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2"/>
  </p:notesMasterIdLst>
  <p:sldIdLst>
    <p:sldId id="256" r:id="rId2"/>
    <p:sldId id="258" r:id="rId3"/>
    <p:sldId id="260" r:id="rId4"/>
    <p:sldId id="261" r:id="rId5"/>
    <p:sldId id="317" r:id="rId6"/>
    <p:sldId id="318" r:id="rId7"/>
    <p:sldId id="320" r:id="rId8"/>
    <p:sldId id="271" r:id="rId9"/>
    <p:sldId id="292" r:id="rId10"/>
    <p:sldId id="297" r:id="rId11"/>
    <p:sldId id="299" r:id="rId12"/>
    <p:sldId id="301" r:id="rId13"/>
    <p:sldId id="302" r:id="rId14"/>
    <p:sldId id="303" r:id="rId15"/>
    <p:sldId id="306" r:id="rId16"/>
    <p:sldId id="304" r:id="rId17"/>
    <p:sldId id="263" r:id="rId18"/>
    <p:sldId id="264" r:id="rId19"/>
    <p:sldId id="342" r:id="rId20"/>
    <p:sldId id="290" r:id="rId21"/>
    <p:sldId id="340" r:id="rId22"/>
    <p:sldId id="327" r:id="rId23"/>
    <p:sldId id="331" r:id="rId24"/>
    <p:sldId id="334" r:id="rId25"/>
    <p:sldId id="335" r:id="rId26"/>
    <p:sldId id="336" r:id="rId27"/>
    <p:sldId id="337" r:id="rId28"/>
    <p:sldId id="338" r:id="rId29"/>
    <p:sldId id="307" r:id="rId30"/>
    <p:sldId id="341"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92" autoAdjust="0"/>
    <p:restoredTop sz="94660"/>
  </p:normalViewPr>
  <p:slideViewPr>
    <p:cSldViewPr snapToGrid="0">
      <p:cViewPr varScale="1">
        <p:scale>
          <a:sx n="89" d="100"/>
          <a:sy n="89" d="100"/>
        </p:scale>
        <p:origin x="56" y="272"/>
      </p:cViewPr>
      <p:guideLst>
        <p:guide orient="horz" pos="2160"/>
        <p:guide pos="3840"/>
      </p:guideLst>
    </p:cSldViewPr>
  </p:slideViewPr>
  <p:notesTextViewPr>
    <p:cViewPr>
      <p:scale>
        <a:sx n="1" d="1"/>
        <a:sy n="1" d="1"/>
      </p:scale>
      <p:origin x="0" y="0"/>
    </p:cViewPr>
  </p:notesTextViewPr>
  <p:notesViewPr>
    <p:cSldViewPr snapToGrid="0">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9E124A-BE7A-4531-A0BB-CC574D217D43}" type="datetimeFigureOut">
              <a:rPr lang="en-IN" smtClean="0"/>
              <a:pPr/>
              <a:t>29-03-2025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2BAE59-2E6D-4F75-91C6-49C6982E2634}" type="slidenum">
              <a:rPr lang="en-IN" smtClean="0"/>
              <a:pPr/>
              <a:t>‹#›</a:t>
            </a:fld>
            <a:endParaRPr lang="en-IN"/>
          </a:p>
        </p:txBody>
      </p:sp>
    </p:spTree>
    <p:extLst>
      <p:ext uri="{BB962C8B-B14F-4D97-AF65-F5344CB8AC3E}">
        <p14:creationId xmlns:p14="http://schemas.microsoft.com/office/powerpoint/2010/main" val="709532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468C63-3FAD-4DF2-98B4-C3725F2DF617}" type="datetime1">
              <a:rPr lang="en-IN" smtClean="0"/>
              <a:pPr/>
              <a:t>29-03-2025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2684032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33989"/>
            <a:ext cx="10515600" cy="853049"/>
          </a:xfrm>
        </p:spPr>
        <p:txBody>
          <a:bodyPr>
            <a:normAutofit/>
          </a:bodyPr>
          <a:lstStyle>
            <a:lvl1pPr algn="ctr">
              <a:defRPr sz="3200" b="0">
                <a:solidFill>
                  <a:srgbClr val="C00000"/>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838200" y="2166425"/>
            <a:ext cx="10515600" cy="4010538"/>
          </a:xfrm>
        </p:spPr>
        <p:txBody>
          <a:bodyPr/>
          <a:lstStyle>
            <a:lvl1pPr algn="just">
              <a:defRPr>
                <a:latin typeface="Times New Roman" panose="02020603050405020304" pitchFamily="18" charset="0"/>
                <a:cs typeface="Times New Roman" panose="02020603050405020304" pitchFamily="18" charset="0"/>
              </a:defRPr>
            </a:lvl1pPr>
            <a:lvl2pPr algn="just">
              <a:defRPr>
                <a:latin typeface="Times New Roman" panose="02020603050405020304" pitchFamily="18" charset="0"/>
                <a:cs typeface="Times New Roman" panose="02020603050405020304" pitchFamily="18" charset="0"/>
              </a:defRPr>
            </a:lvl2pPr>
            <a:lvl3pPr algn="just">
              <a:defRPr>
                <a:latin typeface="Times New Roman" panose="02020603050405020304" pitchFamily="18" charset="0"/>
                <a:cs typeface="Times New Roman" panose="02020603050405020304" pitchFamily="18" charset="0"/>
              </a:defRPr>
            </a:lvl3pPr>
            <a:lvl4pPr algn="just">
              <a:defRPr>
                <a:latin typeface="Times New Roman" panose="02020603050405020304" pitchFamily="18" charset="0"/>
                <a:cs typeface="Times New Roman" panose="02020603050405020304" pitchFamily="18" charset="0"/>
              </a:defRPr>
            </a:lvl4pPr>
            <a:lvl5pPr algn="just">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99C771E-CBB8-46B8-9A2B-C879EAEB6408}" type="datetime1">
              <a:rPr lang="en-IN" smtClean="0"/>
              <a:pPr/>
              <a:t>29-03-2025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3711583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694C4658-4683-4DA4-8823-6DDE92686EAA}" type="datetime1">
              <a:rPr lang="en-IN" smtClean="0"/>
              <a:pPr/>
              <a:t>29-03-2025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565029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5AD06F-8C1A-4A4E-9DFC-D86DB6E23C7B}" type="datetime1">
              <a:rPr lang="en-IN" smtClean="0"/>
              <a:pPr/>
              <a:t>29-03-2025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4275460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EC0E5D-0813-4F41-AA59-AC7F0D20FB86}" type="datetime1">
              <a:rPr lang="en-IN" smtClean="0"/>
              <a:pPr/>
              <a:t>29-03-2025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4093202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324930-7A83-4F5A-92E8-068FB474C119}" type="datetime1">
              <a:rPr lang="en-IN" smtClean="0"/>
              <a:pPr/>
              <a:t>29-03-2025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3373830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31BC23-8F5C-4985-8EEC-B61C94528755}" type="datetime1">
              <a:rPr lang="en-IN" smtClean="0"/>
              <a:pPr/>
              <a:t>29-03-2025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3788731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94B65-5307-408C-8D36-2438089955BA}" type="datetime1">
              <a:rPr lang="en-IN" smtClean="0"/>
              <a:pPr/>
              <a:t>29-03-2025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353406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D69061-74E0-4C91-AE1C-47CD3A3211C0}" type="datetime1">
              <a:rPr lang="en-IN" smtClean="0"/>
              <a:pPr/>
              <a:t>29-03-2025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3523949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EF67BA-DF9A-4294-AEA5-5D5346F25EBD}" type="datetime1">
              <a:rPr lang="en-IN" smtClean="0"/>
              <a:pPr/>
              <a:t>29-03-2025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787424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AA4525-AF59-4E08-A7B9-18007037D215}" type="datetime1">
              <a:rPr lang="en-IN" smtClean="0"/>
              <a:pPr/>
              <a:t>29-03-2025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1FE30E-0B0F-4198-89EF-8BED91706E8A}" type="slidenum">
              <a:rPr lang="en-IN" smtClean="0"/>
              <a:pPr/>
              <a:t>‹#›</a:t>
            </a:fld>
            <a:endParaRPr lang="en-IN"/>
          </a:p>
        </p:txBody>
      </p:sp>
    </p:spTree>
    <p:extLst>
      <p:ext uri="{BB962C8B-B14F-4D97-AF65-F5344CB8AC3E}">
        <p14:creationId xmlns:p14="http://schemas.microsoft.com/office/powerpoint/2010/main" val="219913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5F9A9F-9624-4079-A7BB-096936516D87}" type="datetime1">
              <a:rPr lang="en-IN" smtClean="0"/>
              <a:pPr/>
              <a:t>29-03-2025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1FE30E-0B0F-4198-89EF-8BED91706E8A}" type="slidenum">
              <a:rPr lang="en-IN" smtClean="0"/>
              <a:pPr/>
              <a:t>‹#›</a:t>
            </a:fld>
            <a:endParaRPr lang="en-IN"/>
          </a:p>
        </p:txBody>
      </p:sp>
    </p:spTree>
    <p:extLst>
      <p:ext uri="{BB962C8B-B14F-4D97-AF65-F5344CB8AC3E}">
        <p14:creationId xmlns:p14="http://schemas.microsoft.com/office/powerpoint/2010/main" val="2232880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C591E0-B264-7B9F-8EFB-E683872E4F66}"/>
              </a:ext>
            </a:extLst>
          </p:cNvPr>
          <p:cNvSpPr>
            <a:spLocks noGrp="1"/>
          </p:cNvSpPr>
          <p:nvPr>
            <p:ph type="ctrTitle"/>
          </p:nvPr>
        </p:nvSpPr>
        <p:spPr>
          <a:xfrm>
            <a:off x="1524000" y="1122364"/>
            <a:ext cx="9144000" cy="1660594"/>
          </a:xfrm>
        </p:spPr>
        <p:txBody>
          <a:bodyPr>
            <a:normAutofit/>
          </a:bodyPr>
          <a:lstStyle/>
          <a:p>
            <a:r>
              <a:rPr lang="en-US" sz="3200" b="1" dirty="0">
                <a:latin typeface="Times New Roman" panose="02020603050405020304" pitchFamily="18" charset="0"/>
                <a:cs typeface="Times New Roman" panose="02020603050405020304" pitchFamily="18" charset="0"/>
              </a:rPr>
              <a:t>A Major Project Review 2 Presentation on </a:t>
            </a:r>
            <a:br>
              <a:rPr lang="en-US" sz="2800" b="1"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“CareerConnect: Smart Campus Placement Portal</a:t>
            </a:r>
            <a:r>
              <a:rPr lang="en-US" sz="28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7" name="Subtitle 6">
            <a:extLst>
              <a:ext uri="{FF2B5EF4-FFF2-40B4-BE49-F238E27FC236}">
                <a16:creationId xmlns:a16="http://schemas.microsoft.com/office/drawing/2014/main" id="{1E356FCE-9A1D-097C-2C52-C4488215A801}"/>
              </a:ext>
            </a:extLst>
          </p:cNvPr>
          <p:cNvSpPr>
            <a:spLocks noGrp="1"/>
          </p:cNvSpPr>
          <p:nvPr>
            <p:ph type="subTitle" idx="1"/>
          </p:nvPr>
        </p:nvSpPr>
        <p:spPr>
          <a:xfrm>
            <a:off x="1524000" y="3429000"/>
            <a:ext cx="9144000" cy="3064564"/>
          </a:xfrm>
        </p:spPr>
        <p:txBody>
          <a:bodyPr>
            <a:normAutofit fontScale="92500" lnSpcReduction="20000"/>
          </a:bodyPr>
          <a:lstStyle/>
          <a:p>
            <a:pPr>
              <a:lnSpc>
                <a:spcPct val="110000"/>
              </a:lnSpc>
            </a:pPr>
            <a:r>
              <a:rPr lang="en-US" sz="2600" b="1" dirty="0">
                <a:latin typeface="Times New Roman" panose="02020603050405020304" pitchFamily="18" charset="0"/>
                <a:cs typeface="Times New Roman" panose="02020603050405020304" pitchFamily="18" charset="0"/>
              </a:rPr>
              <a:t>Presented By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Abhaychandra Gupta	(TU8F2122004)</a:t>
            </a:r>
          </a:p>
          <a:p>
            <a:pPr>
              <a:lnSpc>
                <a:spcPct val="110000"/>
              </a:lnSpc>
            </a:pPr>
            <a:r>
              <a:rPr lang="en-US" sz="2400" dirty="0">
                <a:latin typeface="Times New Roman" panose="02020603050405020304" pitchFamily="18" charset="0"/>
                <a:cs typeface="Times New Roman" panose="02020603050405020304" pitchFamily="18" charset="0"/>
              </a:rPr>
              <a:t>Gayatri Gide	              (TU8F2122004)</a:t>
            </a:r>
          </a:p>
          <a:p>
            <a:pPr>
              <a:lnSpc>
                <a:spcPct val="110000"/>
              </a:lnSpc>
            </a:pPr>
            <a:r>
              <a:rPr lang="en-US" sz="2400" dirty="0">
                <a:latin typeface="Times New Roman" panose="02020603050405020304" pitchFamily="18" charset="0"/>
                <a:cs typeface="Times New Roman" panose="02020603050405020304" pitchFamily="18" charset="0"/>
              </a:rPr>
              <a:t>Prajakta Chaudhari 	 (TU8F2122010)</a:t>
            </a:r>
          </a:p>
          <a:p>
            <a:pPr>
              <a:lnSpc>
                <a:spcPct val="110000"/>
              </a:lnSpc>
            </a:pPr>
            <a:r>
              <a:rPr lang="en-US" sz="2400" dirty="0">
                <a:latin typeface="Times New Roman" panose="02020603050405020304" pitchFamily="18" charset="0"/>
                <a:cs typeface="Times New Roman" panose="02020603050405020304" pitchFamily="18" charset="0"/>
              </a:rPr>
              <a:t>Harshit Mhatre 	         	(TU8F2122024)</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Under the Guidance of</a:t>
            </a:r>
            <a:br>
              <a:rPr lang="en-US" sz="2600"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Prof. Smita Pawar</a:t>
            </a:r>
          </a:p>
        </p:txBody>
      </p:sp>
    </p:spTree>
    <p:extLst>
      <p:ext uri="{BB962C8B-B14F-4D97-AF65-F5344CB8AC3E}">
        <p14:creationId xmlns:p14="http://schemas.microsoft.com/office/powerpoint/2010/main" val="3915290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7AD57-93C4-1588-11AD-122B65565366}"/>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3CA66501-CD45-4826-CDAF-F0E3E48A8253}"/>
              </a:ext>
            </a:extLst>
          </p:cNvPr>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Introduction</a:t>
            </a:r>
          </a:p>
          <a:p>
            <a:r>
              <a:rPr lang="en-US" dirty="0"/>
              <a:t>Problem Statement</a:t>
            </a:r>
          </a:p>
          <a:p>
            <a:r>
              <a:rPr lang="en-US" dirty="0"/>
              <a:t>Literature Review</a:t>
            </a:r>
          </a:p>
          <a:p>
            <a:r>
              <a:rPr lang="en-US" dirty="0"/>
              <a:t>Objectives</a:t>
            </a:r>
          </a:p>
          <a:p>
            <a:r>
              <a:rPr lang="en-US" dirty="0"/>
              <a:t>Proposed Methodology </a:t>
            </a:r>
          </a:p>
          <a:p>
            <a:r>
              <a:rPr lang="en-US" dirty="0"/>
              <a:t>Progress Work</a:t>
            </a:r>
          </a:p>
        </p:txBody>
      </p:sp>
      <p:sp>
        <p:nvSpPr>
          <p:cNvPr id="4" name="Slide Number Placeholder 3">
            <a:extLst>
              <a:ext uri="{FF2B5EF4-FFF2-40B4-BE49-F238E27FC236}">
                <a16:creationId xmlns:a16="http://schemas.microsoft.com/office/drawing/2014/main" id="{9F6F7802-3B91-2887-DAB5-20D4F69DB5D2}"/>
              </a:ext>
            </a:extLst>
          </p:cNvPr>
          <p:cNvSpPr>
            <a:spLocks noGrp="1"/>
          </p:cNvSpPr>
          <p:nvPr>
            <p:ph type="sldNum" sz="quarter" idx="12"/>
          </p:nvPr>
        </p:nvSpPr>
        <p:spPr/>
        <p:txBody>
          <a:bodyPr/>
          <a:lstStyle/>
          <a:p>
            <a:fld id="{A41FE30E-0B0F-4198-89EF-8BED91706E8A}" type="slidenum">
              <a:rPr lang="en-IN" smtClean="0"/>
              <a:pPr/>
              <a:t>2</a:t>
            </a:fld>
            <a:endParaRPr lang="en-IN"/>
          </a:p>
        </p:txBody>
      </p:sp>
    </p:spTree>
    <p:extLst>
      <p:ext uri="{BB962C8B-B14F-4D97-AF65-F5344CB8AC3E}">
        <p14:creationId xmlns:p14="http://schemas.microsoft.com/office/powerpoint/2010/main" val="1986823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F479A-B0C8-4BE9-D645-3A54AF901F68}"/>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A8A83BED-6479-5B76-9D78-0E1E3200B9DD}"/>
              </a:ext>
            </a:extLst>
          </p:cNvPr>
          <p:cNvSpPr>
            <a:spLocks noGrp="1"/>
          </p:cNvSpPr>
          <p:nvPr>
            <p:ph idx="1"/>
          </p:nvPr>
        </p:nvSpPr>
        <p:spPr>
          <a:xfrm>
            <a:off x="838200" y="2345812"/>
            <a:ext cx="10515600" cy="4010538"/>
          </a:xfrm>
        </p:spPr>
        <p:txBody>
          <a:bodyPr>
            <a:normAutofit/>
          </a:bodyPr>
          <a:lstStyle/>
          <a:p>
            <a:pPr marL="0" indent="0">
              <a:buNone/>
            </a:pPr>
            <a:r>
              <a:rPr lang="en-US" dirty="0"/>
              <a:t>The Campus Placement Portal streamlines recruitment in educational institutions by replacing manual methods with digital solutions. It uses AI and data analytics to automate job postings, student applications, and employer interactions, matching student profiles to job opportunities and providing real-time updates. The portal improves efficiency, transparency, and communication, aiding the transition from academic to professional life and helping students showcase their skills to potential employers.</a:t>
            </a:r>
            <a:endParaRPr lang="en-IN" dirty="0"/>
          </a:p>
        </p:txBody>
      </p:sp>
      <p:sp>
        <p:nvSpPr>
          <p:cNvPr id="4" name="Slide Number Placeholder 3">
            <a:extLst>
              <a:ext uri="{FF2B5EF4-FFF2-40B4-BE49-F238E27FC236}">
                <a16:creationId xmlns:a16="http://schemas.microsoft.com/office/drawing/2014/main" id="{86DA6136-B575-9E39-495A-D25AAFC523A0}"/>
              </a:ext>
            </a:extLst>
          </p:cNvPr>
          <p:cNvSpPr>
            <a:spLocks noGrp="1"/>
          </p:cNvSpPr>
          <p:nvPr>
            <p:ph type="sldNum" sz="quarter" idx="12"/>
          </p:nvPr>
        </p:nvSpPr>
        <p:spPr/>
        <p:txBody>
          <a:bodyPr/>
          <a:lstStyle/>
          <a:p>
            <a:fld id="{A41FE30E-0B0F-4198-89EF-8BED91706E8A}" type="slidenum">
              <a:rPr lang="en-IN" smtClean="0"/>
              <a:pPr/>
              <a:t>3</a:t>
            </a:fld>
            <a:endParaRPr lang="en-IN"/>
          </a:p>
        </p:txBody>
      </p:sp>
    </p:spTree>
    <p:extLst>
      <p:ext uri="{BB962C8B-B14F-4D97-AF65-F5344CB8AC3E}">
        <p14:creationId xmlns:p14="http://schemas.microsoft.com/office/powerpoint/2010/main" val="1165357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BEC61-208F-73F0-74BB-C07318F61D16}"/>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A280A095-4FC2-64A7-CDCE-9A6016E3C879}"/>
              </a:ext>
            </a:extLst>
          </p:cNvPr>
          <p:cNvSpPr>
            <a:spLocks noGrp="1"/>
          </p:cNvSpPr>
          <p:nvPr>
            <p:ph idx="1"/>
          </p:nvPr>
        </p:nvSpPr>
        <p:spPr>
          <a:xfrm>
            <a:off x="838200" y="2076731"/>
            <a:ext cx="10515600" cy="4189925"/>
          </a:xfrm>
        </p:spPr>
        <p:txBody>
          <a:bodyPr>
            <a:normAutofit/>
          </a:bodyPr>
          <a:lstStyle/>
          <a:p>
            <a:r>
              <a:rPr lang="en-US" sz="2600" dirty="0"/>
              <a:t>The traditional campus recruitment process is inefficient and disorganized.</a:t>
            </a:r>
          </a:p>
          <a:p>
            <a:r>
              <a:rPr lang="en-US" sz="2600" dirty="0"/>
              <a:t>Students face poor preparation resources and inconsistent resume formats.</a:t>
            </a:r>
          </a:p>
          <a:p>
            <a:r>
              <a:rPr lang="en-US" sz="2600" dirty="0"/>
              <a:t>Feedback mechanisms are inadequate, hindering student improvement. </a:t>
            </a:r>
          </a:p>
          <a:p>
            <a:r>
              <a:rPr lang="en-US" sz="2600" dirty="0"/>
              <a:t>Recruiters have limited access to comprehensive candidate information. </a:t>
            </a:r>
          </a:p>
          <a:p>
            <a:r>
              <a:rPr lang="en-US" sz="2600" dirty="0"/>
              <a:t>T&amp;P cell members struggle with inefficient management of student profiles.</a:t>
            </a:r>
          </a:p>
          <a:p>
            <a:r>
              <a:rPr lang="en-US" sz="2600" dirty="0"/>
              <a:t>The overall placement experience is time-consuming and less effective for all parties.</a:t>
            </a:r>
          </a:p>
          <a:p>
            <a:r>
              <a:rPr lang="en-US" sz="2600" dirty="0"/>
              <a:t>There is a critical need for a unified platform to streamline and optimize the recruitment process using advanced technologies.</a:t>
            </a:r>
            <a:endParaRPr lang="en-IN" sz="2600" dirty="0"/>
          </a:p>
        </p:txBody>
      </p:sp>
      <p:sp>
        <p:nvSpPr>
          <p:cNvPr id="4" name="Slide Number Placeholder 3">
            <a:extLst>
              <a:ext uri="{FF2B5EF4-FFF2-40B4-BE49-F238E27FC236}">
                <a16:creationId xmlns:a16="http://schemas.microsoft.com/office/drawing/2014/main" id="{BB9EF85B-FD8E-7690-1026-7BB26F1621FF}"/>
              </a:ext>
            </a:extLst>
          </p:cNvPr>
          <p:cNvSpPr>
            <a:spLocks noGrp="1"/>
          </p:cNvSpPr>
          <p:nvPr>
            <p:ph type="sldNum" sz="quarter" idx="12"/>
          </p:nvPr>
        </p:nvSpPr>
        <p:spPr/>
        <p:txBody>
          <a:bodyPr/>
          <a:lstStyle/>
          <a:p>
            <a:fld id="{A41FE30E-0B0F-4198-89EF-8BED91706E8A}" type="slidenum">
              <a:rPr lang="en-IN" smtClean="0"/>
              <a:pPr/>
              <a:t>4</a:t>
            </a:fld>
            <a:endParaRPr lang="en-IN"/>
          </a:p>
        </p:txBody>
      </p:sp>
    </p:spTree>
    <p:extLst>
      <p:ext uri="{BB962C8B-B14F-4D97-AF65-F5344CB8AC3E}">
        <p14:creationId xmlns:p14="http://schemas.microsoft.com/office/powerpoint/2010/main" val="178274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D2D727-9143-36BC-0174-746BE5B376C4}"/>
              </a:ext>
            </a:extLst>
          </p:cNvPr>
          <p:cNvSpPr>
            <a:spLocks noGrp="1"/>
          </p:cNvSpPr>
          <p:nvPr>
            <p:ph type="sldNum" sz="quarter" idx="12"/>
          </p:nvPr>
        </p:nvSpPr>
        <p:spPr/>
        <p:txBody>
          <a:bodyPr/>
          <a:lstStyle/>
          <a:p>
            <a:fld id="{A41FE30E-0B0F-4198-89EF-8BED91706E8A}" type="slidenum">
              <a:rPr lang="en-IN" smtClean="0"/>
              <a:pPr/>
              <a:t>5</a:t>
            </a:fld>
            <a:endParaRPr lang="en-IN"/>
          </a:p>
        </p:txBody>
      </p:sp>
      <p:graphicFrame>
        <p:nvGraphicFramePr>
          <p:cNvPr id="3" name="Table 2">
            <a:extLst>
              <a:ext uri="{FF2B5EF4-FFF2-40B4-BE49-F238E27FC236}">
                <a16:creationId xmlns:a16="http://schemas.microsoft.com/office/drawing/2014/main" id="{D2971681-2DC9-B90C-243B-B3FEE4F61081}"/>
              </a:ext>
            </a:extLst>
          </p:cNvPr>
          <p:cNvGraphicFramePr>
            <a:graphicFrameLocks noGrp="1"/>
          </p:cNvGraphicFramePr>
          <p:nvPr>
            <p:extLst>
              <p:ext uri="{D42A27DB-BD31-4B8C-83A1-F6EECF244321}">
                <p14:modId xmlns:p14="http://schemas.microsoft.com/office/powerpoint/2010/main" val="2600377668"/>
              </p:ext>
            </p:extLst>
          </p:nvPr>
        </p:nvGraphicFramePr>
        <p:xfrm>
          <a:off x="473149" y="1863755"/>
          <a:ext cx="11245702" cy="4745325"/>
        </p:xfrm>
        <a:graphic>
          <a:graphicData uri="http://schemas.openxmlformats.org/drawingml/2006/table">
            <a:tbl>
              <a:tblPr>
                <a:noFill/>
              </a:tblPr>
              <a:tblGrid>
                <a:gridCol w="782838">
                  <a:extLst>
                    <a:ext uri="{9D8B030D-6E8A-4147-A177-3AD203B41FA5}">
                      <a16:colId xmlns:a16="http://schemas.microsoft.com/office/drawing/2014/main" val="300352513"/>
                    </a:ext>
                  </a:extLst>
                </a:gridCol>
                <a:gridCol w="2070923">
                  <a:extLst>
                    <a:ext uri="{9D8B030D-6E8A-4147-A177-3AD203B41FA5}">
                      <a16:colId xmlns:a16="http://schemas.microsoft.com/office/drawing/2014/main" val="629485314"/>
                    </a:ext>
                  </a:extLst>
                </a:gridCol>
                <a:gridCol w="2075617">
                  <a:extLst>
                    <a:ext uri="{9D8B030D-6E8A-4147-A177-3AD203B41FA5}">
                      <a16:colId xmlns:a16="http://schemas.microsoft.com/office/drawing/2014/main" val="2838336871"/>
                    </a:ext>
                  </a:extLst>
                </a:gridCol>
                <a:gridCol w="2087569">
                  <a:extLst>
                    <a:ext uri="{9D8B030D-6E8A-4147-A177-3AD203B41FA5}">
                      <a16:colId xmlns:a16="http://schemas.microsoft.com/office/drawing/2014/main" val="444494899"/>
                    </a:ext>
                  </a:extLst>
                </a:gridCol>
                <a:gridCol w="2066120">
                  <a:extLst>
                    <a:ext uri="{9D8B030D-6E8A-4147-A177-3AD203B41FA5}">
                      <a16:colId xmlns:a16="http://schemas.microsoft.com/office/drawing/2014/main" val="3597199215"/>
                    </a:ext>
                  </a:extLst>
                </a:gridCol>
                <a:gridCol w="2162635">
                  <a:extLst>
                    <a:ext uri="{9D8B030D-6E8A-4147-A177-3AD203B41FA5}">
                      <a16:colId xmlns:a16="http://schemas.microsoft.com/office/drawing/2014/main" val="576131153"/>
                    </a:ext>
                  </a:extLst>
                </a:gridCol>
              </a:tblGrid>
              <a:tr h="690088">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892688">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1</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“Placement Test Web Portal”</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solidFill>
                            <a:schemeClr val="tx1"/>
                          </a:solidFill>
                          <a:latin typeface="Times New Roman" panose="02020603050405020304" pitchFamily="18" charset="0"/>
                          <a:cs typeface="Times New Roman" panose="02020603050405020304" pitchFamily="18" charset="0"/>
                        </a:rPr>
                        <a:t>Anand Singh, Aishwarya Shukla, Maulik Sharma, Rahul Yadav, Vidyadhari Singh</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IOSR Journal of Computer Engineering (IOSR-JCE), e-ISSN: 2278-0661, p-ISSN: 2278-8727, pp. 58-61.</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solidFill>
                            <a:schemeClr val="tx1"/>
                          </a:solidFill>
                          <a:latin typeface="Times New Roman" panose="02020603050405020304" pitchFamily="18" charset="0"/>
                          <a:cs typeface="Times New Roman" panose="02020603050405020304" pitchFamily="18" charset="0"/>
                        </a:rPr>
                        <a:t>Date: 02 May 2022</a:t>
                      </a: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Manual Inefficiency: Tedious, error-prone, and time-consuming tasks.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Data Management: Inefficient manual storage, updating, and searching, risking data loss.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Communication Gaps: Inefficient manual notifications can lead to missed opportunities.</a:t>
                      </a:r>
                    </a:p>
                    <a:p>
                      <a:pPr marL="93980" marR="173990" algn="l">
                        <a:lnSpc>
                          <a:spcPct val="100299"/>
                        </a:lnSpc>
                        <a:spcBef>
                          <a:spcPts val="705"/>
                        </a:spcBef>
                      </a:pP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Automated Student Registration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Eligibility Checks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Notification System</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Sentiment Analysis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Resume Builder</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Mock Tests and Performance Tracking</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Data Integrity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Enhanced Communication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Performance Tracking</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Feedback Integration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Cost-Effective</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Scalability</a:t>
                      </a:r>
                    </a:p>
                    <a:p>
                      <a:pPr marL="96520" marR="202565" indent="0" algn="l">
                        <a:lnSpc>
                          <a:spcPct val="115599"/>
                        </a:lnSpc>
                        <a:spcBef>
                          <a:spcPts val="525"/>
                        </a:spcBef>
                        <a:buFont typeface="+mj-lt"/>
                        <a:buNone/>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Technical Dependency</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Initial Setup</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Maintenance</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User Training</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Integration Challenges</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Sentiment Analysis Accuracy</a:t>
                      </a:r>
                      <a:endParaRPr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4255736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D2D727-9143-36BC-0174-746BE5B376C4}"/>
              </a:ext>
            </a:extLst>
          </p:cNvPr>
          <p:cNvSpPr>
            <a:spLocks noGrp="1"/>
          </p:cNvSpPr>
          <p:nvPr>
            <p:ph type="sldNum" sz="quarter" idx="12"/>
          </p:nvPr>
        </p:nvSpPr>
        <p:spPr/>
        <p:txBody>
          <a:bodyPr/>
          <a:lstStyle/>
          <a:p>
            <a:fld id="{A41FE30E-0B0F-4198-89EF-8BED91706E8A}" type="slidenum">
              <a:rPr lang="en-IN" smtClean="0"/>
              <a:pPr/>
              <a:t>6</a:t>
            </a:fld>
            <a:endParaRPr lang="en-IN"/>
          </a:p>
        </p:txBody>
      </p:sp>
      <p:graphicFrame>
        <p:nvGraphicFramePr>
          <p:cNvPr id="3" name="Table 2">
            <a:extLst>
              <a:ext uri="{FF2B5EF4-FFF2-40B4-BE49-F238E27FC236}">
                <a16:creationId xmlns:a16="http://schemas.microsoft.com/office/drawing/2014/main" id="{D2971681-2DC9-B90C-243B-B3FEE4F61081}"/>
              </a:ext>
            </a:extLst>
          </p:cNvPr>
          <p:cNvGraphicFramePr>
            <a:graphicFrameLocks noGrp="1"/>
          </p:cNvGraphicFramePr>
          <p:nvPr>
            <p:extLst>
              <p:ext uri="{D42A27DB-BD31-4B8C-83A1-F6EECF244321}">
                <p14:modId xmlns:p14="http://schemas.microsoft.com/office/powerpoint/2010/main" val="1561245380"/>
              </p:ext>
            </p:extLst>
          </p:nvPr>
        </p:nvGraphicFramePr>
        <p:xfrm>
          <a:off x="473149" y="1863755"/>
          <a:ext cx="11245702" cy="4729926"/>
        </p:xfrm>
        <a:graphic>
          <a:graphicData uri="http://schemas.openxmlformats.org/drawingml/2006/table">
            <a:tbl>
              <a:tblPr>
                <a:noFill/>
              </a:tblPr>
              <a:tblGrid>
                <a:gridCol w="782838">
                  <a:extLst>
                    <a:ext uri="{9D8B030D-6E8A-4147-A177-3AD203B41FA5}">
                      <a16:colId xmlns:a16="http://schemas.microsoft.com/office/drawing/2014/main" val="300352513"/>
                    </a:ext>
                  </a:extLst>
                </a:gridCol>
                <a:gridCol w="2070923">
                  <a:extLst>
                    <a:ext uri="{9D8B030D-6E8A-4147-A177-3AD203B41FA5}">
                      <a16:colId xmlns:a16="http://schemas.microsoft.com/office/drawing/2014/main" val="629485314"/>
                    </a:ext>
                  </a:extLst>
                </a:gridCol>
                <a:gridCol w="2075617">
                  <a:extLst>
                    <a:ext uri="{9D8B030D-6E8A-4147-A177-3AD203B41FA5}">
                      <a16:colId xmlns:a16="http://schemas.microsoft.com/office/drawing/2014/main" val="2838336871"/>
                    </a:ext>
                  </a:extLst>
                </a:gridCol>
                <a:gridCol w="2087569">
                  <a:extLst>
                    <a:ext uri="{9D8B030D-6E8A-4147-A177-3AD203B41FA5}">
                      <a16:colId xmlns:a16="http://schemas.microsoft.com/office/drawing/2014/main" val="444494899"/>
                    </a:ext>
                  </a:extLst>
                </a:gridCol>
                <a:gridCol w="2066120">
                  <a:extLst>
                    <a:ext uri="{9D8B030D-6E8A-4147-A177-3AD203B41FA5}">
                      <a16:colId xmlns:a16="http://schemas.microsoft.com/office/drawing/2014/main" val="3597199215"/>
                    </a:ext>
                  </a:extLst>
                </a:gridCol>
                <a:gridCol w="2162635">
                  <a:extLst>
                    <a:ext uri="{9D8B030D-6E8A-4147-A177-3AD203B41FA5}">
                      <a16:colId xmlns:a16="http://schemas.microsoft.com/office/drawing/2014/main" val="576131153"/>
                    </a:ext>
                  </a:extLst>
                </a:gridCol>
              </a:tblGrid>
              <a:tr h="676615">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998436">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2</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"Implementation of Training and Placement System"</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solidFill>
                            <a:schemeClr val="tx1"/>
                          </a:solidFill>
                          <a:latin typeface="Times New Roman" panose="02020603050405020304" pitchFamily="18" charset="0"/>
                          <a:cs typeface="Times New Roman" panose="02020603050405020304" pitchFamily="18" charset="0"/>
                        </a:rPr>
                        <a:t>Aishwarya </a:t>
                      </a:r>
                      <a:r>
                        <a:rPr lang="en-IN" sz="1600" dirty="0" err="1">
                          <a:solidFill>
                            <a:schemeClr val="tx1"/>
                          </a:solidFill>
                          <a:latin typeface="Times New Roman" panose="02020603050405020304" pitchFamily="18" charset="0"/>
                          <a:cs typeface="Times New Roman" panose="02020603050405020304" pitchFamily="18" charset="0"/>
                        </a:rPr>
                        <a:t>Baile</a:t>
                      </a:r>
                      <a:r>
                        <a:rPr lang="en-IN" sz="1600" dirty="0">
                          <a:solidFill>
                            <a:schemeClr val="tx1"/>
                          </a:solidFill>
                          <a:latin typeface="Times New Roman" panose="02020603050405020304" pitchFamily="18" charset="0"/>
                          <a:cs typeface="Times New Roman" panose="02020603050405020304" pitchFamily="18" charset="0"/>
                        </a:rPr>
                        <a:t>, Pratik Sawarkar, Pratik Wankhede</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International Journal of Scientific Research in Science and Technology, Online ISSN: 2395-602X, Volume 8, Issue 3, May-June 2021.</a:t>
                      </a: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Manual Inefficiency</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Data Management </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Communication Gaps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Automation</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Web Application Development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Database Management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Automated Notifications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Eligibility and Application Management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Admin and Company Interface</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Efficiency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Data Integrity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Improved Communication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User-Friendly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Scalability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Continuous Improvement</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Initial Implementation Cost</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Technical Challenges</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User Adoption</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Maintenance</a:t>
                      </a:r>
                    </a:p>
                    <a:p>
                      <a:pPr marL="98425" marR="153035" algn="l">
                        <a:lnSpc>
                          <a:spcPct val="99800"/>
                        </a:lnSpc>
                        <a:spcBef>
                          <a:spcPts val="715"/>
                        </a:spcBef>
                      </a:pPr>
                      <a:r>
                        <a:rPr lang="en-IN" sz="1600" dirty="0">
                          <a:solidFill>
                            <a:schemeClr val="tx1"/>
                          </a:solidFill>
                          <a:latin typeface="Times New Roman" panose="02020603050405020304" pitchFamily="18" charset="0"/>
                          <a:cs typeface="Times New Roman" panose="02020603050405020304" pitchFamily="18" charset="0"/>
                        </a:rPr>
                        <a:t>Dependency on the Internet</a:t>
                      </a:r>
                      <a:endParaRPr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3588815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D2D727-9143-36BC-0174-746BE5B376C4}"/>
              </a:ext>
            </a:extLst>
          </p:cNvPr>
          <p:cNvSpPr>
            <a:spLocks noGrp="1"/>
          </p:cNvSpPr>
          <p:nvPr>
            <p:ph type="sldNum" sz="quarter" idx="12"/>
          </p:nvPr>
        </p:nvSpPr>
        <p:spPr/>
        <p:txBody>
          <a:bodyPr/>
          <a:lstStyle/>
          <a:p>
            <a:fld id="{A41FE30E-0B0F-4198-89EF-8BED91706E8A}" type="slidenum">
              <a:rPr lang="en-IN" smtClean="0"/>
              <a:pPr/>
              <a:t>7</a:t>
            </a:fld>
            <a:endParaRPr lang="en-IN"/>
          </a:p>
        </p:txBody>
      </p:sp>
      <p:graphicFrame>
        <p:nvGraphicFramePr>
          <p:cNvPr id="3" name="Table 2">
            <a:extLst>
              <a:ext uri="{FF2B5EF4-FFF2-40B4-BE49-F238E27FC236}">
                <a16:creationId xmlns:a16="http://schemas.microsoft.com/office/drawing/2014/main" id="{D2971681-2DC9-B90C-243B-B3FEE4F61081}"/>
              </a:ext>
            </a:extLst>
          </p:cNvPr>
          <p:cNvGraphicFramePr>
            <a:graphicFrameLocks noGrp="1"/>
          </p:cNvGraphicFramePr>
          <p:nvPr>
            <p:extLst>
              <p:ext uri="{D42A27DB-BD31-4B8C-83A1-F6EECF244321}">
                <p14:modId xmlns:p14="http://schemas.microsoft.com/office/powerpoint/2010/main" val="2273975150"/>
              </p:ext>
            </p:extLst>
          </p:nvPr>
        </p:nvGraphicFramePr>
        <p:xfrm>
          <a:off x="473149" y="1863755"/>
          <a:ext cx="11245702" cy="4624178"/>
        </p:xfrm>
        <a:graphic>
          <a:graphicData uri="http://schemas.openxmlformats.org/drawingml/2006/table">
            <a:tbl>
              <a:tblPr>
                <a:noFill/>
              </a:tblPr>
              <a:tblGrid>
                <a:gridCol w="782838">
                  <a:extLst>
                    <a:ext uri="{9D8B030D-6E8A-4147-A177-3AD203B41FA5}">
                      <a16:colId xmlns:a16="http://schemas.microsoft.com/office/drawing/2014/main" val="300352513"/>
                    </a:ext>
                  </a:extLst>
                </a:gridCol>
                <a:gridCol w="2070923">
                  <a:extLst>
                    <a:ext uri="{9D8B030D-6E8A-4147-A177-3AD203B41FA5}">
                      <a16:colId xmlns:a16="http://schemas.microsoft.com/office/drawing/2014/main" val="629485314"/>
                    </a:ext>
                  </a:extLst>
                </a:gridCol>
                <a:gridCol w="2075617">
                  <a:extLst>
                    <a:ext uri="{9D8B030D-6E8A-4147-A177-3AD203B41FA5}">
                      <a16:colId xmlns:a16="http://schemas.microsoft.com/office/drawing/2014/main" val="2838336871"/>
                    </a:ext>
                  </a:extLst>
                </a:gridCol>
                <a:gridCol w="2087569">
                  <a:extLst>
                    <a:ext uri="{9D8B030D-6E8A-4147-A177-3AD203B41FA5}">
                      <a16:colId xmlns:a16="http://schemas.microsoft.com/office/drawing/2014/main" val="444494899"/>
                    </a:ext>
                  </a:extLst>
                </a:gridCol>
                <a:gridCol w="2066120">
                  <a:extLst>
                    <a:ext uri="{9D8B030D-6E8A-4147-A177-3AD203B41FA5}">
                      <a16:colId xmlns:a16="http://schemas.microsoft.com/office/drawing/2014/main" val="3597199215"/>
                    </a:ext>
                  </a:extLst>
                </a:gridCol>
                <a:gridCol w="2162635">
                  <a:extLst>
                    <a:ext uri="{9D8B030D-6E8A-4147-A177-3AD203B41FA5}">
                      <a16:colId xmlns:a16="http://schemas.microsoft.com/office/drawing/2014/main" val="576131153"/>
                    </a:ext>
                  </a:extLst>
                </a:gridCol>
              </a:tblGrid>
              <a:tr h="690088">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892688">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3</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“Placement Hive AI-based Placement Portal”</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solidFill>
                            <a:schemeClr val="tx1"/>
                          </a:solidFill>
                          <a:latin typeface="Times New Roman" panose="02020603050405020304" pitchFamily="18" charset="0"/>
                          <a:cs typeface="Times New Roman" panose="02020603050405020304" pitchFamily="18" charset="0"/>
                        </a:rPr>
                        <a:t>Preksha Nigam, Dr. Ashok </a:t>
                      </a:r>
                      <a:r>
                        <a:rPr lang="en-IN" sz="1600" dirty="0" err="1">
                          <a:solidFill>
                            <a:schemeClr val="tx1"/>
                          </a:solidFill>
                          <a:latin typeface="Times New Roman" panose="02020603050405020304" pitchFamily="18" charset="0"/>
                          <a:cs typeface="Times New Roman" panose="02020603050405020304" pitchFamily="18" charset="0"/>
                        </a:rPr>
                        <a:t>Yadhav</a:t>
                      </a:r>
                      <a:r>
                        <a:rPr lang="en-IN" sz="1600" dirty="0">
                          <a:solidFill>
                            <a:schemeClr val="tx1"/>
                          </a:solidFill>
                          <a:latin typeface="Times New Roman" panose="02020603050405020304" pitchFamily="18" charset="0"/>
                          <a:cs typeface="Times New Roman" panose="02020603050405020304" pitchFamily="18" charset="0"/>
                        </a:rPr>
                        <a:t>, Mohammad Ahmad</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YMER, ISSN: 0044-0477, Volume 22, Issue 04 (April) – 2023.</a:t>
                      </a:r>
                    </a:p>
                    <a:p>
                      <a:pPr marL="92710" marR="107314" lvl="0" indent="0" algn="l" defTabSz="914400" rtl="0" eaLnBrk="1" fontAlgn="auto" latinLnBrk="0" hangingPunct="1">
                        <a:lnSpc>
                          <a:spcPct val="100099"/>
                        </a:lnSpc>
                        <a:spcBef>
                          <a:spcPts val="710"/>
                        </a:spcBef>
                        <a:spcAft>
                          <a:spcPts val="0"/>
                        </a:spcAft>
                        <a:buClrTx/>
                        <a:buSzTx/>
                        <a:buFontTx/>
                        <a:buNone/>
                        <a:tabLst/>
                        <a:defRPr/>
                      </a:pP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Automate and streamline recruitment processes</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Replace manual processes with AI-driven technologies</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Utilize natural language processing</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Integrate chatbots for enhanced interaction</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Apply predictive analytics for better decision-making</a:t>
                      </a: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Natural Language Processing (NLP)</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Chatbots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Predictive Analytics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Deep Learning Algorithms</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Automates manual tasks, reducing time and effort in candidate screening</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Enhances precision of candidate-job matching, leading to better hires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Lowers recruitment costs associated with manual processes</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Accuracy of predictions relies on data quality and completeness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Requires significant upfront investment in AI technologies and infrastructure</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Integration of AI technologies can pose challenges in deployment and maintenance</a:t>
                      </a:r>
                      <a:endParaRPr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3060117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D2D727-9143-36BC-0174-746BE5B376C4}"/>
              </a:ext>
            </a:extLst>
          </p:cNvPr>
          <p:cNvSpPr>
            <a:spLocks noGrp="1"/>
          </p:cNvSpPr>
          <p:nvPr>
            <p:ph type="sldNum" sz="quarter" idx="12"/>
          </p:nvPr>
        </p:nvSpPr>
        <p:spPr/>
        <p:txBody>
          <a:bodyPr/>
          <a:lstStyle/>
          <a:p>
            <a:fld id="{A41FE30E-0B0F-4198-89EF-8BED91706E8A}" type="slidenum">
              <a:rPr lang="en-IN" smtClean="0"/>
              <a:pPr/>
              <a:t>8</a:t>
            </a:fld>
            <a:endParaRPr lang="en-IN"/>
          </a:p>
        </p:txBody>
      </p:sp>
      <p:graphicFrame>
        <p:nvGraphicFramePr>
          <p:cNvPr id="3" name="Table 2">
            <a:extLst>
              <a:ext uri="{FF2B5EF4-FFF2-40B4-BE49-F238E27FC236}">
                <a16:creationId xmlns:a16="http://schemas.microsoft.com/office/drawing/2014/main" id="{D2971681-2DC9-B90C-243B-B3FEE4F61081}"/>
              </a:ext>
            </a:extLst>
          </p:cNvPr>
          <p:cNvGraphicFramePr>
            <a:graphicFrameLocks noGrp="1"/>
          </p:cNvGraphicFramePr>
          <p:nvPr>
            <p:extLst>
              <p:ext uri="{D42A27DB-BD31-4B8C-83A1-F6EECF244321}">
                <p14:modId xmlns:p14="http://schemas.microsoft.com/office/powerpoint/2010/main" val="3408188073"/>
              </p:ext>
            </p:extLst>
          </p:nvPr>
        </p:nvGraphicFramePr>
        <p:xfrm>
          <a:off x="473149" y="1863755"/>
          <a:ext cx="11245702" cy="4624178"/>
        </p:xfrm>
        <a:graphic>
          <a:graphicData uri="http://schemas.openxmlformats.org/drawingml/2006/table">
            <a:tbl>
              <a:tblPr>
                <a:noFill/>
              </a:tblPr>
              <a:tblGrid>
                <a:gridCol w="782838">
                  <a:extLst>
                    <a:ext uri="{9D8B030D-6E8A-4147-A177-3AD203B41FA5}">
                      <a16:colId xmlns:a16="http://schemas.microsoft.com/office/drawing/2014/main" val="300352513"/>
                    </a:ext>
                  </a:extLst>
                </a:gridCol>
                <a:gridCol w="2070923">
                  <a:extLst>
                    <a:ext uri="{9D8B030D-6E8A-4147-A177-3AD203B41FA5}">
                      <a16:colId xmlns:a16="http://schemas.microsoft.com/office/drawing/2014/main" val="629485314"/>
                    </a:ext>
                  </a:extLst>
                </a:gridCol>
                <a:gridCol w="2075617">
                  <a:extLst>
                    <a:ext uri="{9D8B030D-6E8A-4147-A177-3AD203B41FA5}">
                      <a16:colId xmlns:a16="http://schemas.microsoft.com/office/drawing/2014/main" val="2838336871"/>
                    </a:ext>
                  </a:extLst>
                </a:gridCol>
                <a:gridCol w="2087569">
                  <a:extLst>
                    <a:ext uri="{9D8B030D-6E8A-4147-A177-3AD203B41FA5}">
                      <a16:colId xmlns:a16="http://schemas.microsoft.com/office/drawing/2014/main" val="444494899"/>
                    </a:ext>
                  </a:extLst>
                </a:gridCol>
                <a:gridCol w="2066120">
                  <a:extLst>
                    <a:ext uri="{9D8B030D-6E8A-4147-A177-3AD203B41FA5}">
                      <a16:colId xmlns:a16="http://schemas.microsoft.com/office/drawing/2014/main" val="3597199215"/>
                    </a:ext>
                  </a:extLst>
                </a:gridCol>
                <a:gridCol w="2162635">
                  <a:extLst>
                    <a:ext uri="{9D8B030D-6E8A-4147-A177-3AD203B41FA5}">
                      <a16:colId xmlns:a16="http://schemas.microsoft.com/office/drawing/2014/main" val="576131153"/>
                    </a:ext>
                  </a:extLst>
                </a:gridCol>
              </a:tblGrid>
              <a:tr h="690088">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892688">
                <a:tc>
                  <a:txBody>
                    <a:bodyPr/>
                    <a:lstStyle/>
                    <a:p>
                      <a:pPr marL="92075" algn="ctr">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4</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1" dirty="0">
                          <a:solidFill>
                            <a:schemeClr val="tx1"/>
                          </a:solidFill>
                          <a:latin typeface="Times New Roman" panose="02020603050405020304" pitchFamily="18" charset="0"/>
                          <a:cs typeface="Times New Roman" panose="02020603050405020304" pitchFamily="18" charset="0"/>
                        </a:rPr>
                        <a:t>“</a:t>
                      </a:r>
                      <a:r>
                        <a:rPr lang="en-US" sz="1600" b="1" dirty="0">
                          <a:solidFill>
                            <a:schemeClr val="tx1"/>
                          </a:solidFill>
                          <a:latin typeface="Times New Roman" panose="02020603050405020304" pitchFamily="18" charset="0"/>
                          <a:cs typeface="Times New Roman" panose="02020603050405020304" pitchFamily="18" charset="0"/>
                        </a:rPr>
                        <a:t>SMART PREP: Smart Preparation Web Application for Placements Using Machine Learning.</a:t>
                      </a:r>
                      <a:r>
                        <a:rPr lang="en-IN" sz="1600" b="1" dirty="0">
                          <a:solidFill>
                            <a:schemeClr val="tx1"/>
                          </a:solidFill>
                          <a:latin typeface="Times New Roman" panose="02020603050405020304" pitchFamily="18" charset="0"/>
                          <a:cs typeface="Times New Roman" panose="02020603050405020304" pitchFamily="18" charset="0"/>
                        </a:rPr>
                        <a:t>”</a:t>
                      </a:r>
                    </a:p>
                    <a:p>
                      <a:pPr marL="92710" marR="107314" algn="l">
                        <a:lnSpc>
                          <a:spcPct val="100099"/>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Prasanna </a:t>
                      </a:r>
                      <a:r>
                        <a:rPr lang="en-IN" sz="1600" dirty="0" err="1">
                          <a:solidFill>
                            <a:schemeClr val="tx1"/>
                          </a:solidFill>
                          <a:latin typeface="Times New Roman" panose="02020603050405020304" pitchFamily="18" charset="0"/>
                          <a:cs typeface="Times New Roman" panose="02020603050405020304" pitchFamily="18" charset="0"/>
                        </a:rPr>
                        <a:t>Kandekar</a:t>
                      </a:r>
                      <a:r>
                        <a:rPr lang="en-IN" sz="1600" dirty="0">
                          <a:solidFill>
                            <a:schemeClr val="tx1"/>
                          </a:solidFill>
                          <a:latin typeface="Times New Roman" panose="02020603050405020304" pitchFamily="18" charset="0"/>
                          <a:cs typeface="Times New Roman" panose="02020603050405020304" pitchFamily="18" charset="0"/>
                        </a:rPr>
                        <a:t>, Manjiri Raut, Shravani Kadam.</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International Research Journal of Engineering and Technology (IRJET), Volume 11, Issue 03, March 2024.</a:t>
                      </a:r>
                    </a:p>
                    <a:p>
                      <a:pPr marL="92710" marR="107314" algn="l">
                        <a:lnSpc>
                          <a:spcPct val="100099"/>
                        </a:lnSpc>
                        <a:spcBef>
                          <a:spcPts val="710"/>
                        </a:spcBef>
                      </a:pP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Fragmented Resources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Personalization</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Limited Feedback</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Privacy Concerns</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Scalability Challenges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Requirement Analysis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System Design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Data Collection and Preprocessing</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Machine Learning Model Development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Integration of Key Features</a:t>
                      </a:r>
                    </a:p>
                    <a:p>
                      <a:pPr marL="95250" marR="117475" algn="l">
                        <a:lnSpc>
                          <a:spcPct val="100000"/>
                        </a:lnSpc>
                        <a:spcBef>
                          <a:spcPts val="710"/>
                        </a:spcBef>
                      </a:pP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Personalized Learning Experience</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Efficient Preparation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Comprehensive Resource Availability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Real-Time Feedback and Performance Analysis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Enhanced Decision Making</a:t>
                      </a:r>
                    </a:p>
                    <a:p>
                      <a:pPr marL="96520" marR="202565" indent="0" algn="l">
                        <a:lnSpc>
                          <a:spcPct val="115599"/>
                        </a:lnSpc>
                        <a:spcBef>
                          <a:spcPts val="525"/>
                        </a:spcBef>
                        <a:buFont typeface="+mj-lt"/>
                        <a:buNone/>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Limited integration of all potential AI/ML techniques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Dependence on user feedback for validation</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Potential bias in AI algorithms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Requires significant data for accuracy</a:t>
                      </a:r>
                      <a:endParaRPr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189214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9</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439011757"/>
              </p:ext>
            </p:extLst>
          </p:nvPr>
        </p:nvGraphicFramePr>
        <p:xfrm>
          <a:off x="520995" y="1952703"/>
          <a:ext cx="11150009" cy="4423063"/>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5</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algn="l">
                        <a:lnSpc>
                          <a:spcPct val="100099"/>
                        </a:lnSpc>
                        <a:spcBef>
                          <a:spcPts val="710"/>
                        </a:spcBef>
                      </a:pPr>
                      <a:r>
                        <a:rPr lang="en-US" sz="1600" b="1" i="0" dirty="0">
                          <a:solidFill>
                            <a:schemeClr val="tx1"/>
                          </a:solidFill>
                          <a:latin typeface="Times New Roman" panose="02020603050405020304" pitchFamily="18" charset="0"/>
                          <a:cs typeface="Times New Roman" panose="02020603050405020304" pitchFamily="18" charset="0"/>
                        </a:rPr>
                        <a:t>"Placement Analysis for Students using Machine Learning"</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C. M. </a:t>
                      </a:r>
                      <a:r>
                        <a:rPr lang="en-US" sz="1600" b="0" i="0" dirty="0" err="1">
                          <a:solidFill>
                            <a:schemeClr val="tx1"/>
                          </a:solidFill>
                          <a:latin typeface="Times New Roman" panose="02020603050405020304" pitchFamily="18" charset="0"/>
                          <a:cs typeface="Times New Roman" panose="02020603050405020304" pitchFamily="18" charset="0"/>
                        </a:rPr>
                        <a:t>Nalayani</a:t>
                      </a:r>
                      <a:r>
                        <a:rPr lang="en-US" sz="1600" b="0" i="0" dirty="0">
                          <a:solidFill>
                            <a:schemeClr val="tx1"/>
                          </a:solidFill>
                          <a:latin typeface="Times New Roman" panose="02020603050405020304" pitchFamily="18" charset="0"/>
                          <a:cs typeface="Times New Roman" panose="02020603050405020304" pitchFamily="18" charset="0"/>
                        </a:rPr>
                        <a:t>, </a:t>
                      </a:r>
                      <a:r>
                        <a:rPr lang="en-US" sz="1600" b="0" i="0" dirty="0" err="1">
                          <a:solidFill>
                            <a:schemeClr val="tx1"/>
                          </a:solidFill>
                          <a:latin typeface="Times New Roman" panose="02020603050405020304" pitchFamily="18" charset="0"/>
                          <a:cs typeface="Times New Roman" panose="02020603050405020304" pitchFamily="18" charset="0"/>
                        </a:rPr>
                        <a:t>Thanga</a:t>
                      </a:r>
                      <a:r>
                        <a:rPr lang="en-US" sz="1600" b="0" i="0" dirty="0">
                          <a:solidFill>
                            <a:schemeClr val="tx1"/>
                          </a:solidFill>
                          <a:latin typeface="Times New Roman" panose="02020603050405020304" pitchFamily="18" charset="0"/>
                          <a:cs typeface="Times New Roman" panose="02020603050405020304" pitchFamily="18" charset="0"/>
                        </a:rPr>
                        <a:t> </a:t>
                      </a:r>
                      <a:r>
                        <a:rPr lang="en-US" sz="1600" b="0" i="0" dirty="0" err="1">
                          <a:solidFill>
                            <a:schemeClr val="tx1"/>
                          </a:solidFill>
                          <a:latin typeface="Times New Roman" panose="02020603050405020304" pitchFamily="18" charset="0"/>
                          <a:cs typeface="Times New Roman" panose="02020603050405020304" pitchFamily="18" charset="0"/>
                        </a:rPr>
                        <a:t>Akilan</a:t>
                      </a:r>
                      <a:r>
                        <a:rPr lang="en-US" sz="1600" b="0" i="0" dirty="0">
                          <a:solidFill>
                            <a:schemeClr val="tx1"/>
                          </a:solidFill>
                          <a:latin typeface="Times New Roman" panose="02020603050405020304" pitchFamily="18" charset="0"/>
                          <a:cs typeface="Times New Roman" panose="02020603050405020304" pitchFamily="18" charset="0"/>
                        </a:rPr>
                        <a:t> .V, Hariharan .S.</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Journal of Information Technology and Digital World, June 2023, Volume 5, Issue 3, Pages 223-227.</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Uncertainty in student placement outcomes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Need for metrics to assess placement progress</a:t>
                      </a:r>
                    </a:p>
                    <a:p>
                      <a:pPr marL="93980" marR="173990" algn="l">
                        <a:lnSpc>
                          <a:spcPct val="100299"/>
                        </a:lnSpc>
                        <a:spcBef>
                          <a:spcPts val="705"/>
                        </a:spcBef>
                      </a:pPr>
                      <a:r>
                        <a:rPr lang="en-IN" sz="1600" dirty="0">
                          <a:solidFill>
                            <a:schemeClr val="tx1"/>
                          </a:solidFill>
                          <a:latin typeface="Times New Roman" panose="02020603050405020304" pitchFamily="18" charset="0"/>
                          <a:cs typeface="Times New Roman" panose="02020603050405020304" pitchFamily="18" charset="0"/>
                        </a:rPr>
                        <a:t>Factors affecting academic performance</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Predicting placement status of students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Machine learning algorithms (Random Forest, Decision Tree, K-means clustering)</a:t>
                      </a:r>
                    </a:p>
                    <a:p>
                      <a:pPr marL="95250" marR="117475" algn="l">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Data mining techniques including Naïve Bayes</a:t>
                      </a:r>
                    </a:p>
                    <a:p>
                      <a:pPr marL="95250" marR="117475" algn="l">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Binary logistic regression model</a:t>
                      </a:r>
                    </a:p>
                    <a:p>
                      <a:pPr marL="95250" marR="117475" algn="l">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Naïve Bayes and K-Nearest Neighbour algorithms</a:t>
                      </a: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Predicts placement outcomes effectively</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Provides a structured approach to placement analysis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Identifies significant factors affecting performance</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High accuracy with multiple parameters considered </a:t>
                      </a:r>
                    </a:p>
                    <a:p>
                      <a:pPr marL="96520" marR="202565" indent="0" algn="l">
                        <a:lnSpc>
                          <a:spcPct val="115599"/>
                        </a:lnSpc>
                        <a:spcBef>
                          <a:spcPts val="525"/>
                        </a:spcBef>
                        <a:buFont typeface="+mj-lt"/>
                        <a:buNone/>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Requires accurate and comprehensive data input </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Relies on historical data for predictions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Limited to specific factors analyzed</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May not cover all influencing factors</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1298177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10</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619083500"/>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6</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"Placement Automation System For Educational Institutes."</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Piyush </a:t>
                      </a:r>
                      <a:r>
                        <a:rPr lang="en-US" sz="1600" b="0" i="0" dirty="0" err="1">
                          <a:solidFill>
                            <a:schemeClr val="tx1"/>
                          </a:solidFill>
                          <a:latin typeface="Times New Roman" panose="02020603050405020304" pitchFamily="18" charset="0"/>
                          <a:cs typeface="Times New Roman" panose="02020603050405020304" pitchFamily="18" charset="0"/>
                        </a:rPr>
                        <a:t>Deore</a:t>
                      </a:r>
                      <a:r>
                        <a:rPr lang="en-US" sz="1600" b="0" i="0" dirty="0">
                          <a:solidFill>
                            <a:schemeClr val="tx1"/>
                          </a:solidFill>
                          <a:latin typeface="Times New Roman" panose="02020603050405020304" pitchFamily="18" charset="0"/>
                          <a:cs typeface="Times New Roman" panose="02020603050405020304" pitchFamily="18" charset="0"/>
                        </a:rPr>
                        <a:t>, Pranav </a:t>
                      </a:r>
                      <a:r>
                        <a:rPr lang="en-US" sz="1600" b="0" i="0" dirty="0" err="1">
                          <a:solidFill>
                            <a:schemeClr val="tx1"/>
                          </a:solidFill>
                          <a:latin typeface="Times New Roman" panose="02020603050405020304" pitchFamily="18" charset="0"/>
                          <a:cs typeface="Times New Roman" panose="02020603050405020304" pitchFamily="18" charset="0"/>
                        </a:rPr>
                        <a:t>Chougule</a:t>
                      </a:r>
                      <a:r>
                        <a:rPr lang="en-US" sz="1600" b="0" i="0" dirty="0">
                          <a:solidFill>
                            <a:schemeClr val="tx1"/>
                          </a:solidFill>
                          <a:latin typeface="Times New Roman" panose="02020603050405020304" pitchFamily="18" charset="0"/>
                          <a:cs typeface="Times New Roman" panose="02020603050405020304" pitchFamily="18" charset="0"/>
                        </a:rPr>
                        <a:t>, Atharva Dere.</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IJCRT, Volume 11, Issue 5, May 2023, ISSN: 2320-2882.</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Repetitive application process for students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analysis features for TPOs and coordinators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Absence of student authorization in existing systems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Difficulty in managing large databases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Automated data collection and management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Implementation of user authentication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Use of NLP and ML models for chatbot</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Implementation of filtering algorithms</a:t>
                      </a: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Reduces manual work and errors in data handling</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Easy updating and tracking of student placements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Ensures legitimacy of student data</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Improved interaction and assistance for students</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Manual processes still exist in some areas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Limited features for historical data analysis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May require additional setup for user verification</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Chatbot may still struggle with complex queries</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594878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11</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3584451103"/>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7</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"Automatic question generation and answer assessment: a survey."</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Bidyut Das, Mukta Majumder, Santanu </a:t>
                      </a:r>
                      <a:r>
                        <a:rPr lang="en-US" sz="1600" b="0" i="0" dirty="0" err="1">
                          <a:solidFill>
                            <a:schemeClr val="tx1"/>
                          </a:solidFill>
                          <a:latin typeface="Times New Roman" panose="02020603050405020304" pitchFamily="18" charset="0"/>
                          <a:cs typeface="Times New Roman" panose="02020603050405020304" pitchFamily="18" charset="0"/>
                        </a:rPr>
                        <a:t>Phadikar</a:t>
                      </a:r>
                      <a:r>
                        <a:rPr lang="en-US" sz="1600" b="0" i="0" dirty="0">
                          <a:solidFill>
                            <a:schemeClr val="tx1"/>
                          </a:solidFill>
                          <a:latin typeface="Times New Roman" panose="02020603050405020304" pitchFamily="18" charset="0"/>
                          <a:cs typeface="Times New Roman" panose="02020603050405020304" pitchFamily="18" charset="0"/>
                        </a:rPr>
                        <a:t>.</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Research and Practice in Technology Enhanced Learning, 2021, 16:5.</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Need for automated assessment in e-learning</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Difficulty in assessing learner's answers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effective tools for subjective question evaluation</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Insufficient understanding of existing methods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Overview of question generation and assessment techniques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Use of various datasets for question generation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Comparison of question types and difficulty levels </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Automated tools for scoring written answers</a:t>
                      </a: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Facilitates self-learning and identifies gaps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Reduces labor and time in question generation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Improves accuracy in learner assessment</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Helps teachers manage large volumes of assessments</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Challenges in evaluating subjective questions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Inadequate datasets for generating MCQs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Limited accuracy in subjective answer evaluation</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Current methods may not achieve adequate results</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3657407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12</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3655360384"/>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8</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"Real-Time Facial Expression Recognition Using Convolutional Neural Network."</a:t>
                      </a:r>
                    </a:p>
                    <a:p>
                      <a:pPr marL="92710" marR="107314" algn="l">
                        <a:lnSpc>
                          <a:spcPct val="100099"/>
                        </a:lnSpc>
                        <a:spcBef>
                          <a:spcPts val="710"/>
                        </a:spcBef>
                      </a:pPr>
                      <a:r>
                        <a:rPr lang="en-US" sz="1600" b="0" i="0" dirty="0" err="1">
                          <a:solidFill>
                            <a:schemeClr val="tx1"/>
                          </a:solidFill>
                          <a:latin typeface="Times New Roman" panose="02020603050405020304" pitchFamily="18" charset="0"/>
                          <a:cs typeface="Times New Roman" panose="02020603050405020304" pitchFamily="18" charset="0"/>
                        </a:rPr>
                        <a:t>AMr</a:t>
                      </a:r>
                      <a:r>
                        <a:rPr lang="en-US" sz="1600" b="0" i="0" dirty="0">
                          <a:solidFill>
                            <a:schemeClr val="tx1"/>
                          </a:solidFill>
                          <a:latin typeface="Times New Roman" panose="02020603050405020304" pitchFamily="18" charset="0"/>
                          <a:cs typeface="Times New Roman" panose="02020603050405020304" pitchFamily="18" charset="0"/>
                        </a:rPr>
                        <a:t>. L. </a:t>
                      </a:r>
                      <a:r>
                        <a:rPr lang="en-US" sz="1600" b="0" i="0" dirty="0" err="1">
                          <a:solidFill>
                            <a:schemeClr val="tx1"/>
                          </a:solidFill>
                          <a:latin typeface="Times New Roman" panose="02020603050405020304" pitchFamily="18" charset="0"/>
                          <a:cs typeface="Times New Roman" panose="02020603050405020304" pitchFamily="18" charset="0"/>
                        </a:rPr>
                        <a:t>Sivaprasad</a:t>
                      </a:r>
                      <a:r>
                        <a:rPr lang="en-US" sz="1600" b="0" i="0" dirty="0">
                          <a:solidFill>
                            <a:schemeClr val="tx1"/>
                          </a:solidFill>
                          <a:latin typeface="Times New Roman" panose="02020603050405020304" pitchFamily="18" charset="0"/>
                          <a:cs typeface="Times New Roman" panose="02020603050405020304" pitchFamily="18" charset="0"/>
                        </a:rPr>
                        <a:t>, E. </a:t>
                      </a:r>
                      <a:r>
                        <a:rPr lang="en-US" sz="1600" b="0" i="0" dirty="0" err="1">
                          <a:solidFill>
                            <a:schemeClr val="tx1"/>
                          </a:solidFill>
                          <a:latin typeface="Times New Roman" panose="02020603050405020304" pitchFamily="18" charset="0"/>
                          <a:cs typeface="Times New Roman" panose="02020603050405020304" pitchFamily="18" charset="0"/>
                        </a:rPr>
                        <a:t>Giribabu</a:t>
                      </a:r>
                      <a:r>
                        <a:rPr lang="en-US" sz="1600" b="0" i="0" dirty="0">
                          <a:solidFill>
                            <a:schemeClr val="tx1"/>
                          </a:solidFill>
                          <a:latin typeface="Times New Roman" panose="02020603050405020304" pitchFamily="18" charset="0"/>
                          <a:cs typeface="Times New Roman" panose="02020603050405020304" pitchFamily="18" charset="0"/>
                        </a:rPr>
                        <a:t> Goud, V. Harshitha.</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IJCRT, Volume 11, Issue 4, April 2023, ISSN: 2320-2882.</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Real-time facial expression recognition</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Processing video frames for emotion detection</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Identifying facial expressions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Comparison with state-of-the-art methods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Convolutional Neural Networks (CNN) and OpenCV</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Training on large datasets of facial images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Use of wavelet transform for precision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Evaluation using precision, recall, F1 score</a:t>
                      </a: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Accurate and fast emotion recognition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Suitable for various practical applications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Improved accuracy in facial emotion detection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Real-time performance enhancement</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Dataset limitations affect performance</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Generalization ability may vary with datasets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Hyperparameter tuning can be complex</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Architecture may limit scalability</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908365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13</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1159106520"/>
              </p:ext>
            </p:extLst>
          </p:nvPr>
        </p:nvGraphicFramePr>
        <p:xfrm>
          <a:off x="520995" y="1952703"/>
          <a:ext cx="11150009" cy="4423063"/>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9</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"Campus Placement Prediction – AI ML."</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Abhinav Velaga, Vemula Gayathri, Satish Chandran.</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IJCRT, Volume 12, Issue 3, March 2024, ISSN: 2320-2882.</a:t>
                      </a:r>
                    </a:p>
                    <a:p>
                      <a:pPr marL="92710" marR="107314" algn="l">
                        <a:lnSpc>
                          <a:spcPct val="100099"/>
                        </a:lnSpc>
                        <a:spcBef>
                          <a:spcPts val="710"/>
                        </a:spcBef>
                      </a:pP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Insufficient data leading to overfitting</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Ethical considerations in data handling</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relevant features influencing success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Data acquisition challenges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AI and ML-driven model using student data</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Algorithms like Decision Trees and Neural Networks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Feature importance analysis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Data cleaning and preprocessing</a:t>
                      </a: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Personalized feedback for students and recruiters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Streamlined selection process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Potential paradigm shift in traditional placement</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Enhanced model reliability and fairness</a:t>
                      </a:r>
                    </a:p>
                    <a:p>
                      <a:pPr marL="96520" marR="202565" indent="0" algn="l">
                        <a:lnSpc>
                          <a:spcPct val="115599"/>
                        </a:lnSpc>
                        <a:spcBef>
                          <a:spcPts val="525"/>
                        </a:spcBef>
                        <a:buFont typeface="+mj-lt"/>
                        <a:buNone/>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Data quality and availability issues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Bias and fairness concerns in ML models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Interpretability and explainability challenges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Limitations in data access and representativeness</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920360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14</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885618482"/>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10</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"Facial Expression and Sound Analysis for Interview Assessment: An AI-Based Application."</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Dhanashri </a:t>
                      </a:r>
                      <a:r>
                        <a:rPr lang="en-US" sz="1600" b="0" i="0" dirty="0" err="1">
                          <a:solidFill>
                            <a:schemeClr val="tx1"/>
                          </a:solidFill>
                          <a:latin typeface="Times New Roman" panose="02020603050405020304" pitchFamily="18" charset="0"/>
                          <a:cs typeface="Times New Roman" panose="02020603050405020304" pitchFamily="18" charset="0"/>
                        </a:rPr>
                        <a:t>Anwat</a:t>
                      </a:r>
                      <a:r>
                        <a:rPr lang="en-US" sz="1600" b="0" i="0" dirty="0">
                          <a:solidFill>
                            <a:schemeClr val="tx1"/>
                          </a:solidFill>
                          <a:latin typeface="Times New Roman" panose="02020603050405020304" pitchFamily="18" charset="0"/>
                          <a:cs typeface="Times New Roman" panose="02020603050405020304" pitchFamily="18" charset="0"/>
                        </a:rPr>
                        <a:t>, Prajakta Derle, Payal Nagare.</a:t>
                      </a:r>
                    </a:p>
                    <a:p>
                      <a:pPr marL="92710" marR="107314" algn="l">
                        <a:lnSpc>
                          <a:spcPct val="100099"/>
                        </a:lnSpc>
                        <a:spcBef>
                          <a:spcPts val="710"/>
                        </a:spcBef>
                      </a:pPr>
                      <a:r>
                        <a:rPr lang="en-IN" sz="1600" dirty="0">
                          <a:latin typeface="Times New Roman" panose="02020603050405020304" pitchFamily="18" charset="0"/>
                          <a:cs typeface="Times New Roman" panose="02020603050405020304" pitchFamily="18" charset="0"/>
                        </a:rPr>
                        <a:t>JETIR, April 2024, Volume 11, Issue 4.</a:t>
                      </a: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structured opportunities for interview practice in educational settings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Challenges faced by recent graduates in preparing for job interviews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Uncertainty about performance and areas for improvement during interviews.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Multimodal data acquisition including video and audio data capture.</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Real-time analysis of user behavior and emotions using AI technologies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Integration of a social virtual character as a recruiter in the simulation.</a:t>
                      </a:r>
                    </a:p>
                    <a:p>
                      <a:pPr marL="95250" marR="117475" algn="l">
                        <a:lnSpc>
                          <a:spcPct val="100000"/>
                        </a:lnSpc>
                        <a:spcBef>
                          <a:spcPts val="710"/>
                        </a:spcBef>
                      </a:pP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Provides personalized feedback highlighting strengths and weaknesses.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Enhances social skills essential for job interviews through simulation</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Subjective nature of interviews complicates assessment</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Dependence on technology may limit accessibility for some users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May not fully replicate the unpredictability of real-life interviews</a:t>
                      </a:r>
                    </a:p>
                    <a:p>
                      <a:pPr marL="98425" marR="153035" algn="l">
                        <a:lnSpc>
                          <a:spcPct val="99800"/>
                        </a:lnSpc>
                        <a:spcBef>
                          <a:spcPts val="715"/>
                        </a:spcBef>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4161417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15</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3869328282"/>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11</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"Resume Matching Framework via Ranking and Sorting Using NLP and Deep Learning."</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Lav Kumar, Karthik </a:t>
                      </a:r>
                      <a:r>
                        <a:rPr lang="en-US" sz="1600" b="0" i="0" dirty="0" err="1">
                          <a:solidFill>
                            <a:schemeClr val="tx1"/>
                          </a:solidFill>
                          <a:latin typeface="Times New Roman" panose="02020603050405020304" pitchFamily="18" charset="0"/>
                          <a:cs typeface="Times New Roman" panose="02020603050405020304" pitchFamily="18" charset="0"/>
                        </a:rPr>
                        <a:t>Penikalapati</a:t>
                      </a:r>
                      <a:r>
                        <a:rPr lang="en-US" sz="1600" b="0" i="0" dirty="0">
                          <a:solidFill>
                            <a:schemeClr val="tx1"/>
                          </a:solidFill>
                          <a:latin typeface="Times New Roman" panose="02020603050405020304" pitchFamily="18" charset="0"/>
                          <a:cs typeface="Times New Roman" panose="02020603050405020304" pitchFamily="18" charset="0"/>
                        </a:rPr>
                        <a:t>, Sudheer Kumar Reddy </a:t>
                      </a:r>
                      <a:r>
                        <a:rPr lang="en-US" sz="1600" b="0" i="0" dirty="0" err="1">
                          <a:solidFill>
                            <a:schemeClr val="tx1"/>
                          </a:solidFill>
                          <a:latin typeface="Times New Roman" panose="02020603050405020304" pitchFamily="18" charset="0"/>
                          <a:cs typeface="Times New Roman" panose="02020603050405020304" pitchFamily="18" charset="0"/>
                        </a:rPr>
                        <a:t>Gowrigari</a:t>
                      </a:r>
                      <a:r>
                        <a:rPr lang="en-US" sz="1600" b="0" i="0" dirty="0">
                          <a:solidFill>
                            <a:schemeClr val="tx1"/>
                          </a:solidFill>
                          <a:latin typeface="Times New Roman" panose="02020603050405020304" pitchFamily="18" charset="0"/>
                          <a:cs typeface="Times New Roman" panose="02020603050405020304" pitchFamily="18" charset="0"/>
                        </a:rPr>
                        <a:t>.</a:t>
                      </a:r>
                    </a:p>
                    <a:p>
                      <a:pPr marL="92710" marR="107314" lvl="0" indent="0" algn="l" defTabSz="914400" rtl="0" eaLnBrk="1" fontAlgn="auto" latinLnBrk="0" hangingPunct="1">
                        <a:lnSpc>
                          <a:spcPct val="100099"/>
                        </a:lnSpc>
                        <a:spcBef>
                          <a:spcPts val="71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IRJMETS, Volume 05, Issue 11, November 2023.</a:t>
                      </a: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Inefficient matching of resumes to job postings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Manual screening and keyword-based searches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Lack of semantic understanding in traditional methods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Utilizes NLP and Deep Learning techniques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Preprocessing resumes and job descriptions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Ranking and sorting based on relevance scores</a:t>
                      </a: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Saves time and resources for HR professionals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Improves accuracy and efficiency of matching</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Streamlines hiring process for employers</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Enhances job seekers' chances of finding relevant jobs</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Ethical and fairness considerations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Potential bias in data and algorithms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Requires continuous monitoring for fairness</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Integration with existing HR systems may be complex</a:t>
                      </a: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1069454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DDFE77-DD58-94F2-A44B-35C3862750E4}"/>
              </a:ext>
            </a:extLst>
          </p:cNvPr>
          <p:cNvSpPr>
            <a:spLocks noGrp="1"/>
          </p:cNvSpPr>
          <p:nvPr>
            <p:ph type="sldNum" sz="quarter" idx="12"/>
          </p:nvPr>
        </p:nvSpPr>
        <p:spPr/>
        <p:txBody>
          <a:bodyPr/>
          <a:lstStyle/>
          <a:p>
            <a:fld id="{A41FE30E-0B0F-4198-89EF-8BED91706E8A}" type="slidenum">
              <a:rPr lang="en-IN" smtClean="0"/>
              <a:pPr/>
              <a:t>16</a:t>
            </a:fld>
            <a:endParaRPr lang="en-IN"/>
          </a:p>
        </p:txBody>
      </p:sp>
      <p:graphicFrame>
        <p:nvGraphicFramePr>
          <p:cNvPr id="2" name="Table 1">
            <a:extLst>
              <a:ext uri="{FF2B5EF4-FFF2-40B4-BE49-F238E27FC236}">
                <a16:creationId xmlns:a16="http://schemas.microsoft.com/office/drawing/2014/main" id="{40FA34E5-BE04-2F97-9800-D72EF5C3D253}"/>
              </a:ext>
            </a:extLst>
          </p:cNvPr>
          <p:cNvGraphicFramePr>
            <a:graphicFrameLocks noGrp="1"/>
          </p:cNvGraphicFramePr>
          <p:nvPr>
            <p:extLst>
              <p:ext uri="{D42A27DB-BD31-4B8C-83A1-F6EECF244321}">
                <p14:modId xmlns:p14="http://schemas.microsoft.com/office/powerpoint/2010/main" val="1333235129"/>
              </p:ext>
            </p:extLst>
          </p:nvPr>
        </p:nvGraphicFramePr>
        <p:xfrm>
          <a:off x="520995" y="1952703"/>
          <a:ext cx="11150009" cy="4403647"/>
        </p:xfrm>
        <a:graphic>
          <a:graphicData uri="http://schemas.openxmlformats.org/drawingml/2006/table">
            <a:tbl>
              <a:tblPr>
                <a:noFill/>
              </a:tblPr>
              <a:tblGrid>
                <a:gridCol w="776177">
                  <a:extLst>
                    <a:ext uri="{9D8B030D-6E8A-4147-A177-3AD203B41FA5}">
                      <a16:colId xmlns:a16="http://schemas.microsoft.com/office/drawing/2014/main" val="300352513"/>
                    </a:ext>
                  </a:extLst>
                </a:gridCol>
                <a:gridCol w="2053301">
                  <a:extLst>
                    <a:ext uri="{9D8B030D-6E8A-4147-A177-3AD203B41FA5}">
                      <a16:colId xmlns:a16="http://schemas.microsoft.com/office/drawing/2014/main" val="629485314"/>
                    </a:ext>
                  </a:extLst>
                </a:gridCol>
                <a:gridCol w="2057955">
                  <a:extLst>
                    <a:ext uri="{9D8B030D-6E8A-4147-A177-3AD203B41FA5}">
                      <a16:colId xmlns:a16="http://schemas.microsoft.com/office/drawing/2014/main" val="2838336871"/>
                    </a:ext>
                  </a:extLst>
                </a:gridCol>
                <a:gridCol w="2069805">
                  <a:extLst>
                    <a:ext uri="{9D8B030D-6E8A-4147-A177-3AD203B41FA5}">
                      <a16:colId xmlns:a16="http://schemas.microsoft.com/office/drawing/2014/main" val="444494899"/>
                    </a:ext>
                  </a:extLst>
                </a:gridCol>
                <a:gridCol w="2048539">
                  <a:extLst>
                    <a:ext uri="{9D8B030D-6E8A-4147-A177-3AD203B41FA5}">
                      <a16:colId xmlns:a16="http://schemas.microsoft.com/office/drawing/2014/main" val="3597199215"/>
                    </a:ext>
                  </a:extLst>
                </a:gridCol>
                <a:gridCol w="2144232">
                  <a:extLst>
                    <a:ext uri="{9D8B030D-6E8A-4147-A177-3AD203B41FA5}">
                      <a16:colId xmlns:a16="http://schemas.microsoft.com/office/drawing/2014/main" val="576131153"/>
                    </a:ext>
                  </a:extLst>
                </a:gridCol>
              </a:tblGrid>
              <a:tr h="517122">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Sr.</a:t>
                      </a:r>
                      <a:r>
                        <a:rPr lang="en-US" sz="1800" b="1" u="none" strike="noStrike" cap="none" baseline="0" dirty="0">
                          <a:solidFill>
                            <a:schemeClr val="tx1"/>
                          </a:solidFill>
                          <a:latin typeface="Times New Roman" panose="02020603050405020304" pitchFamily="18" charset="0"/>
                          <a:cs typeface="Times New Roman" panose="02020603050405020304" pitchFamily="18" charset="0"/>
                        </a:rPr>
                        <a:t> No. </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Title</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Problem</a:t>
                      </a:r>
                      <a:r>
                        <a:rPr lang="en-GB" sz="1800" b="1" u="none" strike="noStrike" cap="none" baseline="0" dirty="0">
                          <a:solidFill>
                            <a:schemeClr val="tx1"/>
                          </a:solidFill>
                          <a:latin typeface="Times New Roman" panose="02020603050405020304" pitchFamily="18" charset="0"/>
                          <a:cs typeface="Times New Roman" panose="02020603050405020304" pitchFamily="18" charset="0"/>
                        </a:rPr>
                        <a:t> Addressed</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cs typeface="Times New Roman" panose="02020603050405020304" pitchFamily="18" charset="0"/>
                        </a:rPr>
                        <a:t>Methodology</a:t>
                      </a: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GB" sz="1800" b="1" u="none" strike="noStrike" cap="none" dirty="0">
                          <a:solidFill>
                            <a:schemeClr val="tx1"/>
                          </a:solidFill>
                          <a:latin typeface="Times New Roman" panose="02020603050405020304" pitchFamily="18" charset="0"/>
                          <a:cs typeface="Times New Roman" panose="02020603050405020304" pitchFamily="18" charset="0"/>
                        </a:rPr>
                        <a:t>Advantages</a:t>
                      </a:r>
                      <a:endParaRPr sz="1800" b="1" u="none" strike="noStrike" cap="none" dirty="0">
                        <a:solidFill>
                          <a:schemeClr val="tx1"/>
                        </a:solidFill>
                        <a:latin typeface="Times New Roman" panose="02020603050405020304" pitchFamily="18" charset="0"/>
                        <a:cs typeface="Times New Roman" panose="02020603050405020304" pitchFamily="18" charset="0"/>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chemeClr val="dk1"/>
                        </a:buClr>
                        <a:buSzPts val="1100"/>
                        <a:buFont typeface="Arial"/>
                        <a:buNone/>
                      </a:pPr>
                      <a:r>
                        <a:rPr lang="en-US"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Limitations</a:t>
                      </a:r>
                      <a:endParaRPr sz="1800" b="1" u="none"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solidFill>
                      <a:schemeClr val="bg1"/>
                    </a:solidFill>
                  </a:tcPr>
                </a:tc>
                <a:extLst>
                  <a:ext uri="{0D108BD9-81ED-4DB2-BD59-A6C34878D82A}">
                    <a16:rowId xmlns:a16="http://schemas.microsoft.com/office/drawing/2014/main" val="1058342087"/>
                  </a:ext>
                </a:extLst>
              </a:tr>
              <a:tr h="3672157">
                <a:tc>
                  <a:txBody>
                    <a:bodyPr/>
                    <a:lstStyle/>
                    <a:p>
                      <a:pPr marL="92075" algn="ctr">
                        <a:lnSpc>
                          <a:spcPct val="100000"/>
                        </a:lnSpc>
                        <a:spcBef>
                          <a:spcPts val="710"/>
                        </a:spcBef>
                      </a:pPr>
                      <a:r>
                        <a:rPr lang="en-IN" sz="1600" dirty="0">
                          <a:solidFill>
                            <a:schemeClr val="tx1"/>
                          </a:solidFill>
                          <a:latin typeface="Times New Roman" panose="02020603050405020304" pitchFamily="18" charset="0"/>
                          <a:cs typeface="Times New Roman" panose="02020603050405020304" pitchFamily="18" charset="0"/>
                        </a:rPr>
                        <a:t>12</a:t>
                      </a:r>
                      <a:endParaRPr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2710" marR="107314" lvl="0" indent="0" algn="l" defTabSz="914400" rtl="0" eaLnBrk="1" fontAlgn="auto" latinLnBrk="0" hangingPunct="1">
                        <a:lnSpc>
                          <a:spcPct val="100099"/>
                        </a:lnSpc>
                        <a:spcBef>
                          <a:spcPts val="710"/>
                        </a:spcBef>
                        <a:spcAft>
                          <a:spcPts val="0"/>
                        </a:spcAft>
                        <a:buClrTx/>
                        <a:buSzTx/>
                        <a:buFontTx/>
                        <a:buNone/>
                        <a:tabLst/>
                        <a:defRPr/>
                      </a:pPr>
                      <a:r>
                        <a:rPr lang="en-US" sz="1600" b="1" i="0" dirty="0">
                          <a:solidFill>
                            <a:schemeClr val="tx1"/>
                          </a:solidFill>
                          <a:latin typeface="Times New Roman" panose="02020603050405020304" pitchFamily="18" charset="0"/>
                          <a:cs typeface="Times New Roman" panose="02020603050405020304" pitchFamily="18" charset="0"/>
                        </a:rPr>
                        <a:t>"Smart Resume </a:t>
                      </a:r>
                      <a:r>
                        <a:rPr lang="en-US" sz="1600" b="1" i="0" dirty="0" err="1">
                          <a:solidFill>
                            <a:schemeClr val="tx1"/>
                          </a:solidFill>
                          <a:latin typeface="Times New Roman" panose="02020603050405020304" pitchFamily="18" charset="0"/>
                          <a:cs typeface="Times New Roman" panose="02020603050405020304" pitchFamily="18" charset="0"/>
                        </a:rPr>
                        <a:t>Analyser</a:t>
                      </a:r>
                      <a:r>
                        <a:rPr lang="en-US" sz="1600" b="1" i="0" dirty="0">
                          <a:solidFill>
                            <a:schemeClr val="tx1"/>
                          </a:solidFill>
                          <a:latin typeface="Times New Roman" panose="02020603050405020304" pitchFamily="18" charset="0"/>
                          <a:cs typeface="Times New Roman" panose="02020603050405020304" pitchFamily="18" charset="0"/>
                        </a:rPr>
                        <a:t>: A Case Study using RNN-based Keyword Extraction."</a:t>
                      </a:r>
                    </a:p>
                    <a:p>
                      <a:pPr marL="92710" marR="107314" algn="l">
                        <a:lnSpc>
                          <a:spcPct val="100099"/>
                        </a:lnSpc>
                        <a:spcBef>
                          <a:spcPts val="710"/>
                        </a:spcBef>
                      </a:pPr>
                      <a:r>
                        <a:rPr lang="en-US" sz="1600" b="0" i="0" dirty="0">
                          <a:solidFill>
                            <a:schemeClr val="tx1"/>
                          </a:solidFill>
                          <a:latin typeface="Times New Roman" panose="02020603050405020304" pitchFamily="18" charset="0"/>
                          <a:cs typeface="Times New Roman" panose="02020603050405020304" pitchFamily="18" charset="0"/>
                        </a:rPr>
                        <a:t>Patlolla Sruthi, P. N. V. K. G. Adithya, MD. Suleman. </a:t>
                      </a:r>
                    </a:p>
                    <a:p>
                      <a:pPr marL="92710" marR="107314" algn="l">
                        <a:lnSpc>
                          <a:spcPct val="100099"/>
                        </a:lnSpc>
                        <a:spcBef>
                          <a:spcPts val="710"/>
                        </a:spcBef>
                      </a:pPr>
                      <a:r>
                        <a:rPr lang="en-IN" sz="1600" dirty="0">
                          <a:latin typeface="Times New Roman" panose="02020603050405020304" pitchFamily="18" charset="0"/>
                          <a:cs typeface="Times New Roman" panose="02020603050405020304" pitchFamily="18" charset="0"/>
                        </a:rPr>
                        <a:t>E3S Web of Conferences, ICMPC 2023, 23, 010 (2023).</a:t>
                      </a:r>
                      <a:endParaRPr lang="en-US" sz="1600" b="0" i="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Inefficient resume screening process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Difficulty in identifying qualified candidates</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Time-consuming resume modification</a:t>
                      </a:r>
                    </a:p>
                    <a:p>
                      <a:pPr marL="93980" marR="173990" algn="l">
                        <a:lnSpc>
                          <a:spcPct val="100299"/>
                        </a:lnSpc>
                        <a:spcBef>
                          <a:spcPts val="705"/>
                        </a:spcBef>
                      </a:pPr>
                      <a:r>
                        <a:rPr lang="en-US" sz="1600" dirty="0">
                          <a:solidFill>
                            <a:schemeClr val="tx1"/>
                          </a:solidFill>
                          <a:latin typeface="Times New Roman" panose="02020603050405020304" pitchFamily="18" charset="0"/>
                          <a:cs typeface="Times New Roman" panose="02020603050405020304" pitchFamily="18" charset="0"/>
                        </a:rPr>
                        <a:t>Unstructured data processing challenges</a:t>
                      </a:r>
                      <a:endParaRPr sz="1600" dirty="0">
                        <a:solidFill>
                          <a:schemeClr val="tx1"/>
                        </a:solidFill>
                        <a:latin typeface="Times New Roman" panose="02020603050405020304" pitchFamily="18" charset="0"/>
                        <a:cs typeface="Times New Roman" panose="02020603050405020304" pitchFamily="18" charset="0"/>
                      </a:endParaRPr>
                    </a:p>
                  </a:txBody>
                  <a:tcPr marL="0" marR="0" marT="89535" marB="0">
                    <a:lnL w="19050" cap="flat" cmpd="sng" algn="ctr">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Utilizes NLP and ML for resume analysis</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RNN-based keyword extraction</a:t>
                      </a:r>
                    </a:p>
                    <a:p>
                      <a:pPr marL="95250" marR="117475" algn="l">
                        <a:lnSpc>
                          <a:spcPct val="100000"/>
                        </a:lnSpc>
                        <a:spcBef>
                          <a:spcPts val="710"/>
                        </a:spcBef>
                      </a:pPr>
                      <a:r>
                        <a:rPr lang="en-US" sz="1600" dirty="0">
                          <a:solidFill>
                            <a:schemeClr val="tx1"/>
                          </a:solidFill>
                          <a:latin typeface="Times New Roman" panose="02020603050405020304" pitchFamily="18" charset="0"/>
                          <a:cs typeface="Times New Roman" panose="02020603050405020304" pitchFamily="18" charset="0"/>
                        </a:rPr>
                        <a:t>Generates suggestions for resume optimization</a:t>
                      </a:r>
                    </a:p>
                    <a:p>
                      <a:pPr marL="95250" marR="117475" algn="l">
                        <a:lnSpc>
                          <a:spcPct val="100000"/>
                        </a:lnSpc>
                        <a:spcBef>
                          <a:spcPts val="710"/>
                        </a:spcBef>
                      </a:pPr>
                      <a:endParaRPr lang="en-IN" sz="1600" dirty="0">
                        <a:solidFill>
                          <a:schemeClr val="tx1"/>
                        </a:solidFill>
                        <a:latin typeface="Times New Roman" panose="02020603050405020304" pitchFamily="18" charset="0"/>
                        <a:cs typeface="Times New Roman" panose="02020603050405020304" pitchFamily="18" charset="0"/>
                      </a:endParaRPr>
                    </a:p>
                  </a:txBody>
                  <a:tcPr marL="0" marR="0" marT="90170"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Reduces recruiter workload</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Automates extraction of relevant information</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Shortens recruitment time</a:t>
                      </a:r>
                    </a:p>
                    <a:p>
                      <a:pPr marL="96520" marR="202565" indent="0" algn="l">
                        <a:lnSpc>
                          <a:spcPct val="115599"/>
                        </a:lnSpc>
                        <a:spcBef>
                          <a:spcPts val="525"/>
                        </a:spcBef>
                        <a:buFont typeface="+mj-lt"/>
                        <a:buNone/>
                      </a:pPr>
                      <a:r>
                        <a:rPr lang="en-US" sz="1600" dirty="0">
                          <a:solidFill>
                            <a:schemeClr val="tx1"/>
                          </a:solidFill>
                          <a:latin typeface="Times New Roman" panose="02020603050405020304" pitchFamily="18" charset="0"/>
                          <a:cs typeface="Times New Roman" panose="02020603050405020304" pitchFamily="18" charset="0"/>
                        </a:rPr>
                        <a:t>Identifies keywords, patterns, and trends</a:t>
                      </a:r>
                    </a:p>
                  </a:txBody>
                  <a:tcPr marL="0" marR="0" marT="6667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tc>
                  <a:txBody>
                    <a:bodyPr/>
                    <a:lstStyle/>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Does not provide recommendations for skill enhance</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Limited to matching conditions set by recruiters </a:t>
                      </a:r>
                    </a:p>
                    <a:p>
                      <a:pPr marL="98425" marR="153035" algn="l">
                        <a:lnSpc>
                          <a:spcPct val="99800"/>
                        </a:lnSpc>
                        <a:spcBef>
                          <a:spcPts val="715"/>
                        </a:spcBef>
                      </a:pPr>
                      <a:r>
                        <a:rPr lang="en-US" sz="1600" dirty="0">
                          <a:solidFill>
                            <a:schemeClr val="tx1"/>
                          </a:solidFill>
                          <a:latin typeface="Times New Roman" panose="02020603050405020304" pitchFamily="18" charset="0"/>
                          <a:cs typeface="Times New Roman" panose="02020603050405020304" pitchFamily="18" charset="0"/>
                        </a:rPr>
                        <a:t>Lacks personalized recommendations for courses</a:t>
                      </a:r>
                    </a:p>
                    <a:p>
                      <a:pPr marL="98425" marR="153035" algn="l">
                        <a:lnSpc>
                          <a:spcPct val="99800"/>
                        </a:lnSpc>
                        <a:spcBef>
                          <a:spcPts val="715"/>
                        </a:spcBef>
                      </a:pPr>
                      <a:endParaRPr lang="en-US" sz="1600" dirty="0">
                        <a:solidFill>
                          <a:schemeClr val="tx1"/>
                        </a:solidFill>
                        <a:latin typeface="Times New Roman" panose="02020603050405020304" pitchFamily="18" charset="0"/>
                        <a:cs typeface="Times New Roman" panose="02020603050405020304" pitchFamily="18" charset="0"/>
                      </a:endParaRPr>
                    </a:p>
                  </a:txBody>
                  <a:tcPr marL="0" marR="0" marT="90805" marB="0">
                    <a:lnL w="19050" cap="flat" cmpd="sng" algn="ctr">
                      <a:solidFill>
                        <a:schemeClr val="dk2"/>
                      </a:solidFill>
                      <a:prstDash val="solid"/>
                      <a:round/>
                      <a:headEnd type="none" w="sm" len="sm"/>
                      <a:tailEnd type="none" w="sm" len="sm"/>
                    </a:lnL>
                    <a:lnR w="19050" cap="flat" cmpd="sng" algn="ctr">
                      <a:solidFill>
                        <a:schemeClr val="dk2"/>
                      </a:solidFill>
                      <a:prstDash val="solid"/>
                      <a:round/>
                      <a:headEnd type="none" w="sm" len="sm"/>
                      <a:tailEnd type="none" w="sm" len="sm"/>
                    </a:lnR>
                    <a:lnT w="19050" cap="flat" cmpd="sng" algn="ctr">
                      <a:solidFill>
                        <a:schemeClr val="dk2"/>
                      </a:solidFill>
                      <a:prstDash val="solid"/>
                      <a:round/>
                      <a:headEnd type="none" w="sm" len="sm"/>
                      <a:tailEnd type="none" w="sm" len="sm"/>
                    </a:lnT>
                    <a:lnB w="19050" cap="flat" cmpd="sng" algn="ctr">
                      <a:solidFill>
                        <a:schemeClr val="dk2"/>
                      </a:solidFill>
                      <a:prstDash val="solid"/>
                      <a:round/>
                      <a:headEnd type="none" w="sm" len="sm"/>
                      <a:tailEnd type="none" w="sm" len="sm"/>
                    </a:lnB>
                  </a:tcPr>
                </a:tc>
                <a:extLst>
                  <a:ext uri="{0D108BD9-81ED-4DB2-BD59-A6C34878D82A}">
                    <a16:rowId xmlns:a16="http://schemas.microsoft.com/office/drawing/2014/main" val="3382326337"/>
                  </a:ext>
                </a:extLst>
              </a:tr>
            </a:tbl>
          </a:graphicData>
        </a:graphic>
      </p:graphicFrame>
    </p:spTree>
    <p:extLst>
      <p:ext uri="{BB962C8B-B14F-4D97-AF65-F5344CB8AC3E}">
        <p14:creationId xmlns:p14="http://schemas.microsoft.com/office/powerpoint/2010/main" val="1571375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28012-8089-4772-C3D2-ADFD7C1D9C9E}"/>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31EF257B-832E-DABF-3E4C-B2124D71E0D6}"/>
              </a:ext>
            </a:extLst>
          </p:cNvPr>
          <p:cNvSpPr>
            <a:spLocks noGrp="1"/>
          </p:cNvSpPr>
          <p:nvPr>
            <p:ph idx="1"/>
          </p:nvPr>
        </p:nvSpPr>
        <p:spPr>
          <a:xfrm>
            <a:off x="838200" y="1987037"/>
            <a:ext cx="10515600" cy="4506631"/>
          </a:xfrm>
        </p:spPr>
        <p:txBody>
          <a:bodyPr>
            <a:noAutofit/>
          </a:bodyPr>
          <a:lstStyle/>
          <a:p>
            <a:r>
              <a:rPr lang="en-US" dirty="0"/>
              <a:t>Shorten recruitment time and reduce selection bias by ranking candidates based on multiple resume aspects.</a:t>
            </a:r>
          </a:p>
          <a:p>
            <a:r>
              <a:rPr lang="en-US" dirty="0"/>
              <a:t>Analyze key factors driving student placement success using insights from ML models.</a:t>
            </a:r>
          </a:p>
          <a:p>
            <a:r>
              <a:rPr lang="en-US" dirty="0"/>
              <a:t>Leverage advanced AI/ML models to improve assessment accuracy and provide detailed insights into candidate capabilities.</a:t>
            </a:r>
          </a:p>
          <a:p>
            <a:r>
              <a:rPr lang="en-US" dirty="0"/>
              <a:t>Implement a confidence assessment algorithm using webcam data.</a:t>
            </a:r>
          </a:p>
          <a:p>
            <a:r>
              <a:rPr lang="en-US" dirty="0"/>
              <a:t>Develop a matching algorithm that aligns candidate performance and preferences with suitable companies, streamlining the recruitment process.</a:t>
            </a:r>
            <a:endParaRPr lang="en-IN" dirty="0"/>
          </a:p>
        </p:txBody>
      </p:sp>
      <p:sp>
        <p:nvSpPr>
          <p:cNvPr id="4" name="Slide Number Placeholder 3">
            <a:extLst>
              <a:ext uri="{FF2B5EF4-FFF2-40B4-BE49-F238E27FC236}">
                <a16:creationId xmlns:a16="http://schemas.microsoft.com/office/drawing/2014/main" id="{429CCFDF-46C8-650E-820F-BA28C7E2E06A}"/>
              </a:ext>
            </a:extLst>
          </p:cNvPr>
          <p:cNvSpPr>
            <a:spLocks noGrp="1"/>
          </p:cNvSpPr>
          <p:nvPr>
            <p:ph type="sldNum" sz="quarter" idx="12"/>
          </p:nvPr>
        </p:nvSpPr>
        <p:spPr/>
        <p:txBody>
          <a:bodyPr/>
          <a:lstStyle/>
          <a:p>
            <a:fld id="{A41FE30E-0B0F-4198-89EF-8BED91706E8A}" type="slidenum">
              <a:rPr lang="en-IN" smtClean="0"/>
              <a:pPr/>
              <a:t>17</a:t>
            </a:fld>
            <a:endParaRPr lang="en-IN"/>
          </a:p>
        </p:txBody>
      </p:sp>
    </p:spTree>
    <p:extLst>
      <p:ext uri="{BB962C8B-B14F-4D97-AF65-F5344CB8AC3E}">
        <p14:creationId xmlns:p14="http://schemas.microsoft.com/office/powerpoint/2010/main" val="3256553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03363C-47B0-CCB2-8013-DA5E5A03742C}"/>
              </a:ext>
            </a:extLst>
          </p:cNvPr>
          <p:cNvSpPr>
            <a:spLocks noGrp="1"/>
          </p:cNvSpPr>
          <p:nvPr>
            <p:ph type="sldNum" sz="quarter" idx="12"/>
          </p:nvPr>
        </p:nvSpPr>
        <p:spPr/>
        <p:txBody>
          <a:bodyPr/>
          <a:lstStyle/>
          <a:p>
            <a:fld id="{A41FE30E-0B0F-4198-89EF-8BED91706E8A}" type="slidenum">
              <a:rPr lang="en-IN" smtClean="0"/>
              <a:pPr/>
              <a:t>18</a:t>
            </a:fld>
            <a:endParaRPr lang="en-IN"/>
          </a:p>
        </p:txBody>
      </p:sp>
      <p:pic>
        <p:nvPicPr>
          <p:cNvPr id="9" name="Picture 8">
            <a:extLst>
              <a:ext uri="{FF2B5EF4-FFF2-40B4-BE49-F238E27FC236}">
                <a16:creationId xmlns:a16="http://schemas.microsoft.com/office/drawing/2014/main" id="{F8E08E9A-9A4A-54DD-8651-EC2D33EFBB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5257" y="1636580"/>
            <a:ext cx="6161486" cy="4819162"/>
          </a:xfrm>
          <a:prstGeom prst="rect">
            <a:avLst/>
          </a:prstGeom>
        </p:spPr>
      </p:pic>
      <p:sp>
        <p:nvSpPr>
          <p:cNvPr id="13" name="Title 1">
            <a:extLst>
              <a:ext uri="{FF2B5EF4-FFF2-40B4-BE49-F238E27FC236}">
                <a16:creationId xmlns:a16="http://schemas.microsoft.com/office/drawing/2014/main" id="{2EFF8281-01FD-C9A2-A29A-58349B579587}"/>
              </a:ext>
            </a:extLst>
          </p:cNvPr>
          <p:cNvSpPr>
            <a:spLocks noGrp="1"/>
          </p:cNvSpPr>
          <p:nvPr>
            <p:ph type="title"/>
          </p:nvPr>
        </p:nvSpPr>
        <p:spPr>
          <a:xfrm>
            <a:off x="838200" y="1133989"/>
            <a:ext cx="10515600" cy="853049"/>
          </a:xfrm>
        </p:spPr>
        <p:txBody>
          <a:bodyPr/>
          <a:lstStyle/>
          <a:p>
            <a:r>
              <a:rPr lang="en-US" dirty="0"/>
              <a:t>Flowchart</a:t>
            </a:r>
            <a:endParaRPr lang="en-IN" dirty="0"/>
          </a:p>
        </p:txBody>
      </p:sp>
      <p:sp>
        <p:nvSpPr>
          <p:cNvPr id="7" name="TextBox 6">
            <a:extLst>
              <a:ext uri="{FF2B5EF4-FFF2-40B4-BE49-F238E27FC236}">
                <a16:creationId xmlns:a16="http://schemas.microsoft.com/office/drawing/2014/main" id="{AA6B7230-21A5-8A13-57E7-9B3AF5FBCBA9}"/>
              </a:ext>
            </a:extLst>
          </p:cNvPr>
          <p:cNvSpPr txBox="1"/>
          <p:nvPr/>
        </p:nvSpPr>
        <p:spPr>
          <a:xfrm>
            <a:off x="4663556" y="6271076"/>
            <a:ext cx="2864887"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Figure 1: Flowchart of portal</a:t>
            </a:r>
          </a:p>
        </p:txBody>
      </p:sp>
    </p:spTree>
    <p:extLst>
      <p:ext uri="{BB962C8B-B14F-4D97-AF65-F5344CB8AC3E}">
        <p14:creationId xmlns:p14="http://schemas.microsoft.com/office/powerpoint/2010/main" val="2976596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1D5907D-673E-9292-5329-68EEAB3AC7DA}"/>
              </a:ext>
            </a:extLst>
          </p:cNvPr>
          <p:cNvSpPr>
            <a:spLocks noGrp="1"/>
          </p:cNvSpPr>
          <p:nvPr>
            <p:ph type="sldNum" sz="quarter" idx="12"/>
          </p:nvPr>
        </p:nvSpPr>
        <p:spPr/>
        <p:txBody>
          <a:bodyPr/>
          <a:lstStyle/>
          <a:p>
            <a:fld id="{A41FE30E-0B0F-4198-89EF-8BED91706E8A}" type="slidenum">
              <a:rPr lang="en-IN" smtClean="0"/>
              <a:pPr/>
              <a:t>19</a:t>
            </a:fld>
            <a:endParaRPr lang="en-IN" dirty="0"/>
          </a:p>
        </p:txBody>
      </p:sp>
      <p:sp>
        <p:nvSpPr>
          <p:cNvPr id="8" name="TextBox 7">
            <a:extLst>
              <a:ext uri="{FF2B5EF4-FFF2-40B4-BE49-F238E27FC236}">
                <a16:creationId xmlns:a16="http://schemas.microsoft.com/office/drawing/2014/main" id="{D4CBAB50-E06D-7547-F36B-11A1C99610CA}"/>
              </a:ext>
            </a:extLst>
          </p:cNvPr>
          <p:cNvSpPr txBox="1"/>
          <p:nvPr/>
        </p:nvSpPr>
        <p:spPr>
          <a:xfrm>
            <a:off x="4587083" y="6296372"/>
            <a:ext cx="3070136"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Figure 2: Architecture of portal</a:t>
            </a:r>
          </a:p>
        </p:txBody>
      </p:sp>
      <p:pic>
        <p:nvPicPr>
          <p:cNvPr id="30" name="Picture 29">
            <a:extLst>
              <a:ext uri="{FF2B5EF4-FFF2-40B4-BE49-F238E27FC236}">
                <a16:creationId xmlns:a16="http://schemas.microsoft.com/office/drawing/2014/main" id="{2E9654F3-C0F5-A85F-23B9-098A9673A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16553"/>
            <a:ext cx="12192000" cy="5189789"/>
          </a:xfrm>
          <a:prstGeom prst="rect">
            <a:avLst/>
          </a:prstGeom>
        </p:spPr>
      </p:pic>
    </p:spTree>
    <p:extLst>
      <p:ext uri="{BB962C8B-B14F-4D97-AF65-F5344CB8AC3E}">
        <p14:creationId xmlns:p14="http://schemas.microsoft.com/office/powerpoint/2010/main" val="41159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A815C-B648-FF5B-DB2E-A6A7E076E0A2}"/>
              </a:ext>
            </a:extLst>
          </p:cNvPr>
          <p:cNvSpPr>
            <a:spLocks noGrp="1"/>
          </p:cNvSpPr>
          <p:nvPr>
            <p:ph type="title"/>
          </p:nvPr>
        </p:nvSpPr>
        <p:spPr/>
        <p:txBody>
          <a:bodyPr/>
          <a:lstStyle/>
          <a:p>
            <a:r>
              <a:rPr lang="en-US" dirty="0"/>
              <a:t>Proposed Methodology</a:t>
            </a:r>
            <a:endParaRPr lang="en-IN" dirty="0"/>
          </a:p>
        </p:txBody>
      </p:sp>
      <p:sp>
        <p:nvSpPr>
          <p:cNvPr id="4" name="Slide Number Placeholder 3">
            <a:extLst>
              <a:ext uri="{FF2B5EF4-FFF2-40B4-BE49-F238E27FC236}">
                <a16:creationId xmlns:a16="http://schemas.microsoft.com/office/drawing/2014/main" id="{5DEB351C-8652-E134-CB28-9120D73CFCE6}"/>
              </a:ext>
            </a:extLst>
          </p:cNvPr>
          <p:cNvSpPr>
            <a:spLocks noGrp="1"/>
          </p:cNvSpPr>
          <p:nvPr>
            <p:ph type="sldNum" sz="quarter" idx="12"/>
          </p:nvPr>
        </p:nvSpPr>
        <p:spPr/>
        <p:txBody>
          <a:bodyPr/>
          <a:lstStyle/>
          <a:p>
            <a:fld id="{A41FE30E-0B0F-4198-89EF-8BED91706E8A}" type="slidenum">
              <a:rPr lang="en-IN" smtClean="0"/>
              <a:pPr/>
              <a:t>20</a:t>
            </a:fld>
            <a:endParaRPr lang="en-IN" dirty="0"/>
          </a:p>
        </p:txBody>
      </p:sp>
      <p:sp>
        <p:nvSpPr>
          <p:cNvPr id="7" name="TextBox 6">
            <a:extLst>
              <a:ext uri="{FF2B5EF4-FFF2-40B4-BE49-F238E27FC236}">
                <a16:creationId xmlns:a16="http://schemas.microsoft.com/office/drawing/2014/main" id="{58E9569D-9F40-CF6E-EDDD-36C39FB276B1}"/>
              </a:ext>
            </a:extLst>
          </p:cNvPr>
          <p:cNvSpPr txBox="1"/>
          <p:nvPr/>
        </p:nvSpPr>
        <p:spPr>
          <a:xfrm>
            <a:off x="921544" y="1882037"/>
            <a:ext cx="10432256" cy="4524315"/>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1. Aptitude Test: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UI &amp; Quiz Management: Uses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to display questions and capture answers.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Proctoring: Implements OpenCV’s Haar Cascade algorithms for real-time face and eye detection to monitor test integrity.</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Logging: Stores test results and proctoring violations in MongoDB.</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2. DSA Test: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Coding Interface: Integrates a code editor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Ace) for multi-language support.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Execution &amp; Evaluation: Runs user code via subprocess calls, comparing outputs to test cases.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Tracking: Logs submissions and performance metrics in MongoDB.</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Mock Interview:</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Question Generation: Uses Google Generative AI to create tailored interview questions.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Answer Capture &amp; Evaluation: Accepts both typed and recorded answers (via speech recognition) and provides AI-generated feedback.</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Proctoring: Monitors the interview using Haar Cascade-based face and eye detection, logging violations.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770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F0B55-B6C0-A402-DBB3-02095F1438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F4F1C6-B200-FDAE-2737-B82D868063DF}"/>
              </a:ext>
            </a:extLst>
          </p:cNvPr>
          <p:cNvSpPr>
            <a:spLocks noGrp="1"/>
          </p:cNvSpPr>
          <p:nvPr>
            <p:ph type="sldNum" sz="quarter" idx="12"/>
          </p:nvPr>
        </p:nvSpPr>
        <p:spPr/>
        <p:txBody>
          <a:bodyPr/>
          <a:lstStyle/>
          <a:p>
            <a:fld id="{A41FE30E-0B0F-4198-89EF-8BED91706E8A}" type="slidenum">
              <a:rPr lang="en-IN" smtClean="0"/>
              <a:pPr/>
              <a:t>21</a:t>
            </a:fld>
            <a:endParaRPr lang="en-IN" dirty="0"/>
          </a:p>
        </p:txBody>
      </p:sp>
      <p:sp>
        <p:nvSpPr>
          <p:cNvPr id="5" name="TextBox 4">
            <a:extLst>
              <a:ext uri="{FF2B5EF4-FFF2-40B4-BE49-F238E27FC236}">
                <a16:creationId xmlns:a16="http://schemas.microsoft.com/office/drawing/2014/main" id="{67B9AE0E-D9E3-CB75-DC28-F6065517D19E}"/>
              </a:ext>
            </a:extLst>
          </p:cNvPr>
          <p:cNvSpPr txBox="1"/>
          <p:nvPr/>
        </p:nvSpPr>
        <p:spPr>
          <a:xfrm>
            <a:off x="921544" y="1882037"/>
            <a:ext cx="10432256" cy="369331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4. Resume Builder:</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Form-Based Data Entry: A web form built with HTML, Bootstrap, and JavaScript collects personal, educational, and professional details.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Dynamic Elements: Allows adding multiple experiences or projects.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PDF Generation: Uses </a:t>
            </a:r>
            <a:r>
              <a:rPr lang="en-US" dirty="0" err="1">
                <a:latin typeface="Times New Roman" panose="02020603050405020304" pitchFamily="18" charset="0"/>
                <a:cs typeface="Times New Roman" panose="02020603050405020304" pitchFamily="18" charset="0"/>
              </a:rPr>
              <a:t>jsPDF</a:t>
            </a:r>
            <a:r>
              <a:rPr lang="en-US" dirty="0">
                <a:latin typeface="Times New Roman" panose="02020603050405020304" pitchFamily="18" charset="0"/>
                <a:cs typeface="Times New Roman" panose="02020603050405020304" pitchFamily="18" charset="0"/>
              </a:rPr>
              <a:t> (and Axios for backend processing) to convert form data into a downloadable resume PDF.</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5. Resume Scanner ATS: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PDF Processing: Converts the first page of a PDF resume into an image (using pdf2image) and encodes it in base64.</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 Analysis: Leverages Google Generative AI to evaluate the resume against a job description, extracting keywords and calculating a match percentage.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Caching: Uses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caching to optimize repeated API calls.</a:t>
            </a:r>
          </a:p>
        </p:txBody>
      </p:sp>
    </p:spTree>
    <p:extLst>
      <p:ext uri="{BB962C8B-B14F-4D97-AF65-F5344CB8AC3E}">
        <p14:creationId xmlns:p14="http://schemas.microsoft.com/office/powerpoint/2010/main" val="476120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7202F-F7E2-156B-99DE-336E7C03C24D}"/>
              </a:ext>
            </a:extLst>
          </p:cNvPr>
          <p:cNvSpPr>
            <a:spLocks noGrp="1"/>
          </p:cNvSpPr>
          <p:nvPr>
            <p:ph type="title"/>
          </p:nvPr>
        </p:nvSpPr>
        <p:spPr/>
        <p:txBody>
          <a:bodyPr/>
          <a:lstStyle/>
          <a:p>
            <a:r>
              <a:rPr lang="en-US" dirty="0"/>
              <a:t>Progress Work</a:t>
            </a:r>
            <a:endParaRPr lang="en-IN" dirty="0"/>
          </a:p>
        </p:txBody>
      </p:sp>
      <p:sp>
        <p:nvSpPr>
          <p:cNvPr id="4" name="Slide Number Placeholder 3">
            <a:extLst>
              <a:ext uri="{FF2B5EF4-FFF2-40B4-BE49-F238E27FC236}">
                <a16:creationId xmlns:a16="http://schemas.microsoft.com/office/drawing/2014/main" id="{1689EF72-2D38-9792-DDB4-5BA5C6D7A6AB}"/>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22</a:t>
            </a:fld>
            <a:endParaRPr lang="en-IN">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D3C01C3-64A3-F8A7-3B53-1CAF0708CBAD}"/>
              </a:ext>
            </a:extLst>
          </p:cNvPr>
          <p:cNvSpPr txBox="1"/>
          <p:nvPr/>
        </p:nvSpPr>
        <p:spPr>
          <a:xfrm>
            <a:off x="1875863" y="6061858"/>
            <a:ext cx="25088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1.1 Home page</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3E557C2-55B4-563B-0C88-E9B3E9360DAD}"/>
              </a:ext>
            </a:extLst>
          </p:cNvPr>
          <p:cNvSpPr txBox="1"/>
          <p:nvPr/>
        </p:nvSpPr>
        <p:spPr>
          <a:xfrm>
            <a:off x="7913033" y="6061858"/>
            <a:ext cx="299547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1.2 Student dashboard</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7457C9A-3471-231D-D85A-262A2BD487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75" y="2043174"/>
            <a:ext cx="5822376" cy="3962548"/>
          </a:xfrm>
          <a:prstGeom prst="rect">
            <a:avLst/>
          </a:prstGeom>
          <a:ln>
            <a:solidFill>
              <a:schemeClr val="tx1"/>
            </a:solidFill>
          </a:ln>
        </p:spPr>
      </p:pic>
      <p:pic>
        <p:nvPicPr>
          <p:cNvPr id="13" name="Picture 12">
            <a:extLst>
              <a:ext uri="{FF2B5EF4-FFF2-40B4-BE49-F238E27FC236}">
                <a16:creationId xmlns:a16="http://schemas.microsoft.com/office/drawing/2014/main" id="{327B27BC-C3B8-A512-940D-B3A965CB5A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0550" y="2043174"/>
            <a:ext cx="5809157" cy="3962548"/>
          </a:xfrm>
          <a:prstGeom prst="rect">
            <a:avLst/>
          </a:prstGeom>
          <a:ln>
            <a:solidFill>
              <a:schemeClr val="tx1"/>
            </a:solidFill>
          </a:ln>
        </p:spPr>
      </p:pic>
    </p:spTree>
    <p:extLst>
      <p:ext uri="{BB962C8B-B14F-4D97-AF65-F5344CB8AC3E}">
        <p14:creationId xmlns:p14="http://schemas.microsoft.com/office/powerpoint/2010/main" val="416660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C0B990-BE2D-BE68-8CD2-F87F3D562424}"/>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23</a:t>
            </a:fld>
            <a:endParaRPr lang="en-IN">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21C9DA2-2742-7E67-522B-A294D78CAAC6}"/>
              </a:ext>
            </a:extLst>
          </p:cNvPr>
          <p:cNvSpPr txBox="1"/>
          <p:nvPr/>
        </p:nvSpPr>
        <p:spPr>
          <a:xfrm>
            <a:off x="6810634" y="6104486"/>
            <a:ext cx="450001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1.4 Aptitude test analysis and visualization</a:t>
            </a:r>
            <a:endParaRPr lang="en-IN"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768D539-1F2E-0655-4C80-91EFD58A2B49}"/>
              </a:ext>
            </a:extLst>
          </p:cNvPr>
          <p:cNvSpPr txBox="1"/>
          <p:nvPr/>
        </p:nvSpPr>
        <p:spPr>
          <a:xfrm>
            <a:off x="2060248" y="6104486"/>
            <a:ext cx="21400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1.3 Aptitude test</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0C39E66-CADF-A1C8-A8D6-6CE8A32306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75" y="2043174"/>
            <a:ext cx="5822376" cy="3962548"/>
          </a:xfrm>
          <a:prstGeom prst="rect">
            <a:avLst/>
          </a:prstGeom>
        </p:spPr>
      </p:pic>
      <p:pic>
        <p:nvPicPr>
          <p:cNvPr id="12" name="Picture 11">
            <a:extLst>
              <a:ext uri="{FF2B5EF4-FFF2-40B4-BE49-F238E27FC236}">
                <a16:creationId xmlns:a16="http://schemas.microsoft.com/office/drawing/2014/main" id="{AB6E7FB9-740B-EE72-7A21-09DEC035DF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0551" y="2043174"/>
            <a:ext cx="5820180" cy="3962548"/>
          </a:xfrm>
          <a:prstGeom prst="rect">
            <a:avLst/>
          </a:prstGeom>
        </p:spPr>
      </p:pic>
    </p:spTree>
    <p:extLst>
      <p:ext uri="{BB962C8B-B14F-4D97-AF65-F5344CB8AC3E}">
        <p14:creationId xmlns:p14="http://schemas.microsoft.com/office/powerpoint/2010/main" val="750732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E406C-4D3B-35AC-EE24-049CCE8CB9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631A91-4EFD-D77E-2236-E08783238026}"/>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24</a:t>
            </a:fld>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C1B908D-B2EC-BC76-9E37-6B8FD149838A}"/>
              </a:ext>
            </a:extLst>
          </p:cNvPr>
          <p:cNvSpPr txBox="1"/>
          <p:nvPr/>
        </p:nvSpPr>
        <p:spPr>
          <a:xfrm>
            <a:off x="2060248" y="6104486"/>
            <a:ext cx="21400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1.5 DSA test</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3ADE224-7698-9072-95C0-FB2036242A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137" y="2043174"/>
            <a:ext cx="5782250" cy="3952814"/>
          </a:xfrm>
          <a:prstGeom prst="rect">
            <a:avLst/>
          </a:prstGeom>
        </p:spPr>
      </p:pic>
      <p:sp>
        <p:nvSpPr>
          <p:cNvPr id="6" name="TextBox 5">
            <a:extLst>
              <a:ext uri="{FF2B5EF4-FFF2-40B4-BE49-F238E27FC236}">
                <a16:creationId xmlns:a16="http://schemas.microsoft.com/office/drawing/2014/main" id="{5A0E4D76-AA59-60D5-5A0F-4A5F594C2D69}"/>
              </a:ext>
            </a:extLst>
          </p:cNvPr>
          <p:cNvSpPr txBox="1"/>
          <p:nvPr/>
        </p:nvSpPr>
        <p:spPr>
          <a:xfrm>
            <a:off x="6810634" y="6104486"/>
            <a:ext cx="415376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1.6 DSA test analysis and visualization</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3E934BD-100B-AADC-EC94-99C3132CD9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0615" y="2043174"/>
            <a:ext cx="5799369" cy="3952814"/>
          </a:xfrm>
          <a:prstGeom prst="rect">
            <a:avLst/>
          </a:prstGeom>
        </p:spPr>
      </p:pic>
    </p:spTree>
    <p:extLst>
      <p:ext uri="{BB962C8B-B14F-4D97-AF65-F5344CB8AC3E}">
        <p14:creationId xmlns:p14="http://schemas.microsoft.com/office/powerpoint/2010/main" val="3667218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8DB3B-29B9-6755-8380-7FFBE6B200C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3C04EF-A05A-5F54-B1BF-B7AB843B585D}"/>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25</a:t>
            </a:fld>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9DA5B47-C5BC-CEE5-EEF6-D24569B2F2FC}"/>
              </a:ext>
            </a:extLst>
          </p:cNvPr>
          <p:cNvSpPr txBox="1"/>
          <p:nvPr/>
        </p:nvSpPr>
        <p:spPr>
          <a:xfrm>
            <a:off x="1941847" y="6104486"/>
            <a:ext cx="235970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1.7 Mock interview</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5F1481B-0E9A-9F66-7117-1F5CED0A5973}"/>
              </a:ext>
            </a:extLst>
          </p:cNvPr>
          <p:cNvSpPr txBox="1"/>
          <p:nvPr/>
        </p:nvSpPr>
        <p:spPr>
          <a:xfrm>
            <a:off x="7424700" y="6104486"/>
            <a:ext cx="328166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1.8 Mock interview summary</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26B5A8A-4AFC-60DA-9A93-CC7962F69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016" y="2043174"/>
            <a:ext cx="5799369" cy="3952814"/>
          </a:xfrm>
          <a:prstGeom prst="rect">
            <a:avLst/>
          </a:prstGeom>
        </p:spPr>
      </p:pic>
      <p:pic>
        <p:nvPicPr>
          <p:cNvPr id="9" name="Picture 8">
            <a:extLst>
              <a:ext uri="{FF2B5EF4-FFF2-40B4-BE49-F238E27FC236}">
                <a16:creationId xmlns:a16="http://schemas.microsoft.com/office/drawing/2014/main" id="{4F047194-B07E-CA42-8B6E-E4A1103BDB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1084" y="2043174"/>
            <a:ext cx="5808900" cy="3952814"/>
          </a:xfrm>
          <a:prstGeom prst="rect">
            <a:avLst/>
          </a:prstGeom>
        </p:spPr>
      </p:pic>
    </p:spTree>
    <p:extLst>
      <p:ext uri="{BB962C8B-B14F-4D97-AF65-F5344CB8AC3E}">
        <p14:creationId xmlns:p14="http://schemas.microsoft.com/office/powerpoint/2010/main" val="25594616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DAF92-F95B-73F4-1D80-C7ABC0B0F36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59866-8E41-653C-3C4A-DDEAB83AB391}"/>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26</a:t>
            </a:fld>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F9EF4AF-EC43-BED4-6BE3-F5BC25641242}"/>
              </a:ext>
            </a:extLst>
          </p:cNvPr>
          <p:cNvSpPr txBox="1"/>
          <p:nvPr/>
        </p:nvSpPr>
        <p:spPr>
          <a:xfrm>
            <a:off x="1941847" y="6104486"/>
            <a:ext cx="235970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1.9 Resume builder</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68833AA-0A21-0067-0310-B22664139E23}"/>
              </a:ext>
            </a:extLst>
          </p:cNvPr>
          <p:cNvSpPr txBox="1"/>
          <p:nvPr/>
        </p:nvSpPr>
        <p:spPr>
          <a:xfrm>
            <a:off x="7508056" y="6104486"/>
            <a:ext cx="311495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1.10 Resume builder output</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EC6B2E3-D957-821C-BF9C-01A2A46803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016" y="2043174"/>
            <a:ext cx="5808901" cy="3952813"/>
          </a:xfrm>
          <a:prstGeom prst="rect">
            <a:avLst/>
          </a:prstGeom>
          <a:ln>
            <a:solidFill>
              <a:schemeClr val="tx1"/>
            </a:solidFill>
          </a:ln>
        </p:spPr>
      </p:pic>
      <p:pic>
        <p:nvPicPr>
          <p:cNvPr id="8" name="Picture 7">
            <a:extLst>
              <a:ext uri="{FF2B5EF4-FFF2-40B4-BE49-F238E27FC236}">
                <a16:creationId xmlns:a16="http://schemas.microsoft.com/office/drawing/2014/main" id="{FE0F9697-7E34-D40B-341B-D4DC24547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1083" y="2043174"/>
            <a:ext cx="5808901" cy="3959310"/>
          </a:xfrm>
          <a:prstGeom prst="rect">
            <a:avLst/>
          </a:prstGeom>
          <a:ln>
            <a:solidFill>
              <a:schemeClr val="tx1"/>
            </a:solidFill>
          </a:ln>
        </p:spPr>
      </p:pic>
    </p:spTree>
    <p:extLst>
      <p:ext uri="{BB962C8B-B14F-4D97-AF65-F5344CB8AC3E}">
        <p14:creationId xmlns:p14="http://schemas.microsoft.com/office/powerpoint/2010/main" val="2327325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7E2D0-AD9A-AF19-943C-1DD1DB6DA4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F68BB-2B37-B9BB-0918-62D14E199E9D}"/>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27</a:t>
            </a:fld>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59653E6-61B9-478B-7704-8719D946227D}"/>
              </a:ext>
            </a:extLst>
          </p:cNvPr>
          <p:cNvSpPr txBox="1"/>
          <p:nvPr/>
        </p:nvSpPr>
        <p:spPr>
          <a:xfrm>
            <a:off x="1568990" y="6104486"/>
            <a:ext cx="311495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1.11 Resume scanner ATS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4CC018F-FDA5-21CC-1E21-1C8989D21C8F}"/>
              </a:ext>
            </a:extLst>
          </p:cNvPr>
          <p:cNvSpPr txBox="1"/>
          <p:nvPr/>
        </p:nvSpPr>
        <p:spPr>
          <a:xfrm>
            <a:off x="7418286" y="6104486"/>
            <a:ext cx="3384260"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1.12 Resume scanner response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5097B68-BC9E-CCE5-A022-A2E03A35A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248" y="2043174"/>
            <a:ext cx="5808901" cy="3952813"/>
          </a:xfrm>
          <a:prstGeom prst="rect">
            <a:avLst/>
          </a:prstGeom>
        </p:spPr>
      </p:pic>
      <p:pic>
        <p:nvPicPr>
          <p:cNvPr id="9" name="Picture 8">
            <a:extLst>
              <a:ext uri="{FF2B5EF4-FFF2-40B4-BE49-F238E27FC236}">
                <a16:creationId xmlns:a16="http://schemas.microsoft.com/office/drawing/2014/main" id="{CC1CA14A-2E7C-C7E5-44FA-F10B378CB3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1082" y="2025741"/>
            <a:ext cx="5808901" cy="3952813"/>
          </a:xfrm>
          <a:prstGeom prst="rect">
            <a:avLst/>
          </a:prstGeom>
        </p:spPr>
      </p:pic>
    </p:spTree>
    <p:extLst>
      <p:ext uri="{BB962C8B-B14F-4D97-AF65-F5344CB8AC3E}">
        <p14:creationId xmlns:p14="http://schemas.microsoft.com/office/powerpoint/2010/main" val="40946085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3089-22A7-79C0-A51C-F9712120C64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4223FF-C739-608D-D0A7-ED890E0A4C29}"/>
              </a:ext>
            </a:extLst>
          </p:cNvPr>
          <p:cNvSpPr>
            <a:spLocks noGrp="1"/>
          </p:cNvSpPr>
          <p:nvPr>
            <p:ph type="sldNum" sz="quarter" idx="12"/>
          </p:nvPr>
        </p:nvSpPr>
        <p:spPr/>
        <p:txBody>
          <a:bodyPr/>
          <a:lstStyle/>
          <a:p>
            <a:fld id="{A41FE30E-0B0F-4198-89EF-8BED91706E8A}" type="slidenum">
              <a:rPr lang="en-IN" smtClean="0">
                <a:latin typeface="Times New Roman" panose="02020603050405020304" pitchFamily="18" charset="0"/>
                <a:cs typeface="Times New Roman" panose="02020603050405020304" pitchFamily="18" charset="0"/>
              </a:rPr>
              <a:pPr/>
              <a:t>28</a:t>
            </a:fld>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16DA0D0-514F-FEF4-A501-D60F12AA6D51}"/>
              </a:ext>
            </a:extLst>
          </p:cNvPr>
          <p:cNvSpPr txBox="1"/>
          <p:nvPr/>
        </p:nvSpPr>
        <p:spPr>
          <a:xfrm>
            <a:off x="1568988" y="6104486"/>
            <a:ext cx="311495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1.13 Admin dashboard</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9CC3AA9-3624-1862-B69B-757CD9D0B814}"/>
              </a:ext>
            </a:extLst>
          </p:cNvPr>
          <p:cNvSpPr txBox="1"/>
          <p:nvPr/>
        </p:nvSpPr>
        <p:spPr>
          <a:xfrm>
            <a:off x="7450316" y="6104486"/>
            <a:ext cx="323043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1.14 Admin manage students</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61AF944-8279-BA28-1321-50BB3171F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016" y="2025740"/>
            <a:ext cx="5808901" cy="3952813"/>
          </a:xfrm>
          <a:prstGeom prst="rect">
            <a:avLst/>
          </a:prstGeom>
          <a:ln>
            <a:solidFill>
              <a:schemeClr val="tx1"/>
            </a:solidFill>
          </a:ln>
        </p:spPr>
      </p:pic>
      <p:pic>
        <p:nvPicPr>
          <p:cNvPr id="8" name="Picture 7">
            <a:extLst>
              <a:ext uri="{FF2B5EF4-FFF2-40B4-BE49-F238E27FC236}">
                <a16:creationId xmlns:a16="http://schemas.microsoft.com/office/drawing/2014/main" id="{763D7613-6FC1-8857-D6B2-3F27DC525B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1084" y="2025740"/>
            <a:ext cx="5808900" cy="3952812"/>
          </a:xfrm>
          <a:prstGeom prst="rect">
            <a:avLst/>
          </a:prstGeom>
          <a:ln>
            <a:solidFill>
              <a:schemeClr val="tx1"/>
            </a:solidFill>
          </a:ln>
        </p:spPr>
      </p:pic>
    </p:spTree>
    <p:extLst>
      <p:ext uri="{BB962C8B-B14F-4D97-AF65-F5344CB8AC3E}">
        <p14:creationId xmlns:p14="http://schemas.microsoft.com/office/powerpoint/2010/main" val="1737867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C4D0-2181-3B44-8ED1-CDEA14F6344C}"/>
              </a:ext>
            </a:extLst>
          </p:cNvPr>
          <p:cNvSpPr>
            <a:spLocks noGrp="1"/>
          </p:cNvSpPr>
          <p:nvPr>
            <p:ph type="title"/>
          </p:nvPr>
        </p:nvSpPr>
        <p:spPr/>
        <p:txBody>
          <a:bodyPr/>
          <a:lstStyle/>
          <a:p>
            <a:r>
              <a:rPr lang="en-US" sz="3200" dirty="0">
                <a:solidFill>
                  <a:srgbClr val="C00000"/>
                </a:solidFill>
                <a:latin typeface="Times New Roman" panose="02020603050405020304" pitchFamily="18" charset="0"/>
                <a:cs typeface="Times New Roman" panose="02020603050405020304" pitchFamily="18" charset="0"/>
              </a:rPr>
              <a:t>References</a:t>
            </a:r>
            <a:endParaRPr lang="en-IN" dirty="0"/>
          </a:p>
        </p:txBody>
      </p:sp>
      <p:sp>
        <p:nvSpPr>
          <p:cNvPr id="3" name="Content Placeholder 2">
            <a:extLst>
              <a:ext uri="{FF2B5EF4-FFF2-40B4-BE49-F238E27FC236}">
                <a16:creationId xmlns:a16="http://schemas.microsoft.com/office/drawing/2014/main" id="{D3172498-72E8-D872-1B38-CB9D0A381463}"/>
              </a:ext>
            </a:extLst>
          </p:cNvPr>
          <p:cNvSpPr>
            <a:spLocks noGrp="1"/>
          </p:cNvSpPr>
          <p:nvPr>
            <p:ph idx="1"/>
          </p:nvPr>
        </p:nvSpPr>
        <p:spPr>
          <a:xfrm>
            <a:off x="650081" y="2072762"/>
            <a:ext cx="10891838" cy="4535206"/>
          </a:xfrm>
        </p:spPr>
        <p:txBody>
          <a:bodyPr>
            <a:noAutofit/>
          </a:bodyPr>
          <a:lstStyle/>
          <a:p>
            <a:pPr marL="342900" indent="-342900">
              <a:buFont typeface="+mj-lt"/>
              <a:buAutoNum type="arabicPeriod"/>
            </a:pP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Anand Singh, Aishwarya Shukla, Maulik Sharma, Rahul Yadav, Vidyadhari Singh. “Placement Test Web Portal.” IOSR Journal of Computer Engineering (IOSR-JCE), e-ISSN: 2278-0661, p-ISSN: 2278-8727, pp. 58-61.</a:t>
            </a:r>
          </a:p>
          <a:p>
            <a:pPr marL="342900" indent="-342900">
              <a:buFont typeface="+mj-lt"/>
              <a:buAutoNum type="arabicPeriod"/>
            </a:pP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Aishwarya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Baile</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Pratik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Sawarkar</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Pratik Wankhede. “Implementation of Training and Placement System.” International Journal of Scientific Research in Science and Technology, Online ISSN: 2395-602X, Volume 8, Issue 3, May-June 2021.</a:t>
            </a:r>
          </a:p>
          <a:p>
            <a:pPr marL="342900" indent="-342900">
              <a:buFont typeface="+mj-lt"/>
              <a:buAutoNum type="arabicPeriod"/>
            </a:pP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Preksha</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Nigam, Dr. Ashok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Yadhav</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Mohammad Ahmad. “Placement Hive AI-based Placement Portal.” YMER, ISSN: 0044-0477, Volume 22, Issue 04 (April) – 2023.</a:t>
            </a:r>
          </a:p>
          <a:p>
            <a:pPr marL="342900" indent="-342900">
              <a:buFont typeface="+mj-lt"/>
              <a:buAutoNum type="arabicPeriod"/>
            </a:pP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Prasanna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Kandekar</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Manjiri</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Raut, Shravani Kadam. “SMART PREP: Smart Preparation Web Application for Placements Using Machine Learning.” International Research Journal of Engineering and Technology (IRJET), Volume 11, Issue 03, March 2024.</a:t>
            </a:r>
          </a:p>
          <a:p>
            <a:pPr marL="342900" indent="-342900">
              <a:buFont typeface="+mj-lt"/>
              <a:buAutoNum type="arabicPeriod"/>
            </a:pP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 M.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Nalayani</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Thanga</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Akilan</a:t>
            </a:r>
            <a:r>
              <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V, Hariharan S. “Placement Analysis for Students using Machine Learning.” Journal of Information Technology and Digital World, June 2023, Volume 5, Issue 3, Pages 223-227.</a:t>
            </a:r>
          </a:p>
          <a:p>
            <a:pPr marL="342900" indent="-342900">
              <a:buFont typeface="+mj-lt"/>
              <a:buAutoNum type="arabicPeriod"/>
            </a:pPr>
            <a:r>
              <a:rPr lang="en-IN" sz="1800" dirty="0"/>
              <a:t>Piyush </a:t>
            </a:r>
            <a:r>
              <a:rPr lang="en-IN" sz="1800" dirty="0" err="1"/>
              <a:t>Deore</a:t>
            </a:r>
            <a:r>
              <a:rPr lang="en-IN" sz="1800" dirty="0"/>
              <a:t>, Pranav </a:t>
            </a:r>
            <a:r>
              <a:rPr lang="en-IN" sz="1800" dirty="0" err="1"/>
              <a:t>Chougule</a:t>
            </a:r>
            <a:r>
              <a:rPr lang="en-IN" sz="1800" dirty="0"/>
              <a:t>, Atharva Dere. “Placement Automation System For Educational Institutes.” IJCRT, Volume 11, Issue 5, May 2023, ISSN: 2320-2882.</a:t>
            </a:r>
          </a:p>
          <a:p>
            <a:pPr marL="342900" indent="-342900">
              <a:buFont typeface="+mj-lt"/>
              <a:buAutoNum type="arabicPeriod"/>
            </a:pPr>
            <a:endPar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 typeface="+mj-lt"/>
              <a:buAutoNum type="arabicPeriod"/>
            </a:pPr>
            <a:endParaRPr lang="en-IN" sz="18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196DC14-2D71-4C69-A22E-0C42D7CCC52F}"/>
              </a:ext>
            </a:extLst>
          </p:cNvPr>
          <p:cNvSpPr>
            <a:spLocks noGrp="1"/>
          </p:cNvSpPr>
          <p:nvPr>
            <p:ph type="sldNum" sz="quarter" idx="12"/>
          </p:nvPr>
        </p:nvSpPr>
        <p:spPr/>
        <p:txBody>
          <a:bodyPr/>
          <a:lstStyle/>
          <a:p>
            <a:fld id="{A41FE30E-0B0F-4198-89EF-8BED91706E8A}" type="slidenum">
              <a:rPr lang="en-IN" smtClean="0"/>
              <a:pPr/>
              <a:t>29</a:t>
            </a:fld>
            <a:endParaRPr lang="en-IN"/>
          </a:p>
        </p:txBody>
      </p:sp>
    </p:spTree>
    <p:extLst>
      <p:ext uri="{BB962C8B-B14F-4D97-AF65-F5344CB8AC3E}">
        <p14:creationId xmlns:p14="http://schemas.microsoft.com/office/powerpoint/2010/main" val="3470459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035B-81C7-00C9-AAB9-564A491BF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6B27D-7288-5BD1-DA48-84BEA9F74DD9}"/>
              </a:ext>
            </a:extLst>
          </p:cNvPr>
          <p:cNvSpPr>
            <a:spLocks noGrp="1"/>
          </p:cNvSpPr>
          <p:nvPr>
            <p:ph type="title"/>
          </p:nvPr>
        </p:nvSpPr>
        <p:spPr/>
        <p:txBody>
          <a:bodyPr/>
          <a:lstStyle/>
          <a:p>
            <a:r>
              <a:rPr lang="en-US" sz="3200" dirty="0">
                <a:solidFill>
                  <a:srgbClr val="C00000"/>
                </a:solidFill>
                <a:latin typeface="Times New Roman" panose="02020603050405020304" pitchFamily="18" charset="0"/>
                <a:cs typeface="Times New Roman" panose="02020603050405020304" pitchFamily="18" charset="0"/>
              </a:rPr>
              <a:t>References</a:t>
            </a:r>
            <a:endParaRPr lang="en-IN" dirty="0"/>
          </a:p>
        </p:txBody>
      </p:sp>
      <p:sp>
        <p:nvSpPr>
          <p:cNvPr id="3" name="Content Placeholder 2">
            <a:extLst>
              <a:ext uri="{FF2B5EF4-FFF2-40B4-BE49-F238E27FC236}">
                <a16:creationId xmlns:a16="http://schemas.microsoft.com/office/drawing/2014/main" id="{51190DE4-CA21-CD89-8EF4-0308696ED59D}"/>
              </a:ext>
            </a:extLst>
          </p:cNvPr>
          <p:cNvSpPr>
            <a:spLocks noGrp="1"/>
          </p:cNvSpPr>
          <p:nvPr>
            <p:ph idx="1"/>
          </p:nvPr>
        </p:nvSpPr>
        <p:spPr>
          <a:xfrm>
            <a:off x="650081" y="2072762"/>
            <a:ext cx="10891838" cy="4535206"/>
          </a:xfrm>
        </p:spPr>
        <p:txBody>
          <a:bodyPr>
            <a:noAutofit/>
          </a:bodyPr>
          <a:lstStyle/>
          <a:p>
            <a:pPr marL="342900" indent="-342900">
              <a:buFont typeface="+mj-lt"/>
              <a:buAutoNum type="arabicPeriod" startAt="7"/>
            </a:pPr>
            <a:r>
              <a:rPr lang="en-IN" sz="1800" dirty="0"/>
              <a:t>Bidyut Das, Mukta Majumder, Santanu </a:t>
            </a:r>
            <a:r>
              <a:rPr lang="en-IN" sz="1800" dirty="0" err="1"/>
              <a:t>Phadikar</a:t>
            </a:r>
            <a:r>
              <a:rPr lang="en-IN" sz="1800" dirty="0"/>
              <a:t>. “Automatic question generation and answer assessment: a survey.” Research and Practice in Technology Enhanced Learning, 2021, 16:5.</a:t>
            </a:r>
          </a:p>
          <a:p>
            <a:pPr marL="342900" indent="-342900">
              <a:buFont typeface="+mj-lt"/>
              <a:buAutoNum type="arabicPeriod" startAt="7"/>
            </a:pPr>
            <a:r>
              <a:rPr lang="en-IN" sz="1800" dirty="0"/>
              <a:t>Mr. L. </a:t>
            </a:r>
            <a:r>
              <a:rPr lang="en-IN" sz="1800" dirty="0" err="1"/>
              <a:t>Sivaprasad</a:t>
            </a:r>
            <a:r>
              <a:rPr lang="en-IN" sz="1800" dirty="0"/>
              <a:t>, E. </a:t>
            </a:r>
            <a:r>
              <a:rPr lang="en-IN" sz="1800" dirty="0" err="1"/>
              <a:t>Giribabu</a:t>
            </a:r>
            <a:r>
              <a:rPr lang="en-IN" sz="1800" dirty="0"/>
              <a:t> Goud, V. Harshitha. “Real-Time Facial Expression Recognition Using Convolutional Neural Network.” IJCRT, Volume 11, Issue 4, April 2023, ISSN: 2320-2882.</a:t>
            </a:r>
          </a:p>
          <a:p>
            <a:pPr marL="342900" indent="-342900">
              <a:buFont typeface="+mj-lt"/>
              <a:buAutoNum type="arabicPeriod" startAt="7"/>
            </a:pPr>
            <a:r>
              <a:rPr lang="en-IN" sz="1800" dirty="0"/>
              <a:t>Abhinav Velaga, Vemula Gayathri, Satish Chandran. “Campus Placement Prediction – AI ML.” IJCRT, Volume 12, Issue 3, March 2024, ISSN: 2320-2882.</a:t>
            </a:r>
          </a:p>
          <a:p>
            <a:pPr marL="342900" indent="-342900">
              <a:buFont typeface="+mj-lt"/>
              <a:buAutoNum type="arabicPeriod" startAt="7"/>
            </a:pPr>
            <a:r>
              <a:rPr lang="en-IN" sz="1800" dirty="0"/>
              <a:t>Dhanashri </a:t>
            </a:r>
            <a:r>
              <a:rPr lang="en-IN" sz="1800" dirty="0" err="1"/>
              <a:t>Anwat</a:t>
            </a:r>
            <a:r>
              <a:rPr lang="en-IN" sz="1800" dirty="0"/>
              <a:t>, Prajakta Derle, Payal Nagare. “Facial Expression and Sound Analysis for Interview Assessment: An AI-Based Application.” JETIR, April 2024, Volume 11, Issue 4.</a:t>
            </a:r>
          </a:p>
          <a:p>
            <a:pPr marL="342900" indent="-342900" algn="just">
              <a:buFont typeface="+mj-lt"/>
              <a:buAutoNum type="arabicPeriod" startAt="7"/>
            </a:pPr>
            <a:r>
              <a:rPr lang="en-IN" sz="1800" dirty="0"/>
              <a:t>Lav Kumar, Karthik </a:t>
            </a:r>
            <a:r>
              <a:rPr lang="en-IN" sz="1800" dirty="0" err="1"/>
              <a:t>Penikalapati</a:t>
            </a:r>
            <a:r>
              <a:rPr lang="en-IN" sz="1800" dirty="0"/>
              <a:t>, Sudheer Kumar Reddy </a:t>
            </a:r>
            <a:r>
              <a:rPr lang="en-IN" sz="1800" dirty="0" err="1"/>
              <a:t>Gowrigari</a:t>
            </a:r>
            <a:r>
              <a:rPr lang="en-IN" sz="1800" dirty="0"/>
              <a:t>. “Resume Matching Framework via Ranking and Sorting Using NLP and Deep Learning.” International Research Journal of Modernization in Engineering Technology and Science (IRJMETS), Volume 05, Issue 11, November 2023.</a:t>
            </a:r>
          </a:p>
          <a:p>
            <a:pPr marL="342900" indent="-342900" algn="just">
              <a:buFont typeface="+mj-lt"/>
              <a:buAutoNum type="arabicPeriod" startAt="7"/>
            </a:pPr>
            <a:r>
              <a:rPr lang="en-IN" sz="1800" dirty="0"/>
              <a:t>Patlolla Sruthi, P. N. V. K. G. Adithya, MD. Suleman. “Smart Resume Analyser: A Case Study using RNN-based Keyword Extraction.” E3S Web of Conferences, ICMPC 2023, 23, 010 (2023).</a:t>
            </a:r>
          </a:p>
          <a:p>
            <a:pPr marL="514350" indent="-514350">
              <a:buFont typeface="+mj-lt"/>
              <a:buAutoNum type="arabicPeriod" startAt="6"/>
            </a:pPr>
            <a:endParaRPr lang="en-IN" sz="1800" dirty="0"/>
          </a:p>
        </p:txBody>
      </p:sp>
      <p:sp>
        <p:nvSpPr>
          <p:cNvPr id="4" name="Slide Number Placeholder 3">
            <a:extLst>
              <a:ext uri="{FF2B5EF4-FFF2-40B4-BE49-F238E27FC236}">
                <a16:creationId xmlns:a16="http://schemas.microsoft.com/office/drawing/2014/main" id="{B1A1387E-5739-FAC6-6061-F7368316BF5B}"/>
              </a:ext>
            </a:extLst>
          </p:cNvPr>
          <p:cNvSpPr>
            <a:spLocks noGrp="1"/>
          </p:cNvSpPr>
          <p:nvPr>
            <p:ph type="sldNum" sz="quarter" idx="12"/>
          </p:nvPr>
        </p:nvSpPr>
        <p:spPr/>
        <p:txBody>
          <a:bodyPr/>
          <a:lstStyle/>
          <a:p>
            <a:fld id="{A41FE30E-0B0F-4198-89EF-8BED91706E8A}" type="slidenum">
              <a:rPr lang="en-IN" smtClean="0"/>
              <a:pPr/>
              <a:t>30</a:t>
            </a:fld>
            <a:endParaRPr lang="en-IN"/>
          </a:p>
        </p:txBody>
      </p:sp>
    </p:spTree>
    <p:extLst>
      <p:ext uri="{BB962C8B-B14F-4D97-AF65-F5344CB8AC3E}">
        <p14:creationId xmlns:p14="http://schemas.microsoft.com/office/powerpoint/2010/main" val="1594242633"/>
      </p:ext>
    </p:extLst>
  </p:cSld>
  <p:clrMapOvr>
    <a:masterClrMapping/>
  </p:clrMapOvr>
</p:sld>
</file>

<file path=ppt/theme/theme1.xml><?xml version="1.0" encoding="utf-8"?>
<a:theme xmlns:a="http://schemas.openxmlformats.org/drawingml/2006/main" name="Theme1">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AD597DC0-B1CF-4BE5-96C3-10EB97A5AE8E}" vid="{12D94207-DABE-47A3-B322-F7AF2F5F46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2168</TotalTime>
  <Words>2756</Words>
  <Application>Microsoft Office PowerPoint</Application>
  <PresentationFormat>Widescreen</PresentationFormat>
  <Paragraphs>429</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Theme1</vt:lpstr>
      <vt:lpstr>A Major Project Review 2 Presentation on   “CareerConnect: Smart Campus Placement Portal”</vt:lpstr>
      <vt:lpstr>Outline</vt:lpstr>
      <vt:lpstr>Introduction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vt:lpstr>
      <vt:lpstr>Flowchart</vt:lpstr>
      <vt:lpstr>PowerPoint Presentation</vt:lpstr>
      <vt:lpstr>Proposed Methodology</vt:lpstr>
      <vt:lpstr>PowerPoint Presentation</vt:lpstr>
      <vt:lpstr>Progress Work</vt:lpstr>
      <vt:lpstr>PowerPoint Presentation</vt:lpstr>
      <vt:lpstr>PowerPoint Presentation</vt:lpstr>
      <vt:lpstr>PowerPoint Presentation</vt:lpstr>
      <vt:lpstr>PowerPoint Presentation</vt:lpstr>
      <vt:lpstr>PowerPoint Presentation</vt:lpstr>
      <vt:lpstr>PowerPoint Presentation</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Vishal Gotarane</dc:creator>
  <cp:lastModifiedBy>Harshit Mhatre</cp:lastModifiedBy>
  <cp:revision>188</cp:revision>
  <dcterms:created xsi:type="dcterms:W3CDTF">2023-08-01T06:44:40Z</dcterms:created>
  <dcterms:modified xsi:type="dcterms:W3CDTF">2025-03-30T04:09:17Z</dcterms:modified>
</cp:coreProperties>
</file>